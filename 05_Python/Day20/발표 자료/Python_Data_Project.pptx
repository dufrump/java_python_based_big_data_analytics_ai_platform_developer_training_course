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4"/>
    <p:sldMasterId id="214748367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5143500" cx="9144000"/>
  <p:notesSz cx="6858000" cy="9144000"/>
  <p:embeddedFontLst>
    <p:embeddedFont>
      <p:font typeface="Dancing Script SemiBold"/>
      <p:regular r:id="rId32"/>
      <p:bold r:id="rId33"/>
    </p:embeddedFont>
    <p:embeddedFont>
      <p:font typeface="Poppins Light"/>
      <p:regular r:id="rId34"/>
      <p:bold r:id="rId35"/>
      <p:italic r:id="rId36"/>
      <p:boldItalic r:id="rId37"/>
    </p:embeddedFont>
    <p:embeddedFont>
      <p:font typeface="Dancing Script"/>
      <p:regular r:id="rId38"/>
      <p:bold r:id="rId39"/>
    </p:embeddedFont>
    <p:embeddedFont>
      <p:font typeface="Roboto Mono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regular.fntdata"/><Relationship Id="rId20" Type="http://schemas.openxmlformats.org/officeDocument/2006/relationships/slide" Target="slides/slide14.xml"/><Relationship Id="rId42" Type="http://schemas.openxmlformats.org/officeDocument/2006/relationships/font" Target="fonts/RobotoMono-italic.fntdata"/><Relationship Id="rId41" Type="http://schemas.openxmlformats.org/officeDocument/2006/relationships/font" Target="fonts/RobotoMono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font" Target="fonts/RobotoMono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DancingScriptSemiBold-bold.fntdata"/><Relationship Id="rId10" Type="http://schemas.openxmlformats.org/officeDocument/2006/relationships/slide" Target="slides/slide4.xml"/><Relationship Id="rId32" Type="http://schemas.openxmlformats.org/officeDocument/2006/relationships/font" Target="fonts/DancingScriptSemiBold-regular.fntdata"/><Relationship Id="rId13" Type="http://schemas.openxmlformats.org/officeDocument/2006/relationships/slide" Target="slides/slide7.xml"/><Relationship Id="rId35" Type="http://schemas.openxmlformats.org/officeDocument/2006/relationships/font" Target="fonts/PoppinsLight-bold.fntdata"/><Relationship Id="rId12" Type="http://schemas.openxmlformats.org/officeDocument/2006/relationships/slide" Target="slides/slide6.xml"/><Relationship Id="rId34" Type="http://schemas.openxmlformats.org/officeDocument/2006/relationships/font" Target="fonts/PoppinsLight-regular.fntdata"/><Relationship Id="rId15" Type="http://schemas.openxmlformats.org/officeDocument/2006/relationships/slide" Target="slides/slide9.xml"/><Relationship Id="rId37" Type="http://schemas.openxmlformats.org/officeDocument/2006/relationships/font" Target="fonts/PoppinsLight-boldItalic.fntdata"/><Relationship Id="rId14" Type="http://schemas.openxmlformats.org/officeDocument/2006/relationships/slide" Target="slides/slide8.xml"/><Relationship Id="rId36" Type="http://schemas.openxmlformats.org/officeDocument/2006/relationships/font" Target="fonts/PoppinsLight-italic.fntdata"/><Relationship Id="rId17" Type="http://schemas.openxmlformats.org/officeDocument/2006/relationships/slide" Target="slides/slide11.xml"/><Relationship Id="rId39" Type="http://schemas.openxmlformats.org/officeDocument/2006/relationships/font" Target="fonts/DancingScript-bold.fntdata"/><Relationship Id="rId16" Type="http://schemas.openxmlformats.org/officeDocument/2006/relationships/slide" Target="slides/slide10.xml"/><Relationship Id="rId38" Type="http://schemas.openxmlformats.org/officeDocument/2006/relationships/font" Target="fonts/DancingScript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eb8f04f16_2_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6eb8f04f16_2_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6eb8f04f16_2_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6eb8f04f16_2_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6eb8f04f16_2_70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6eb8f04f16_2_7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6eb8f04f16_2_7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6eb8f04f16_2_7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80061a160d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80061a160d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80061a160d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80061a160d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80061a160d_0_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80061a160d_0_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80061a160d_0_1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80061a160d_0_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80061a160d_0_1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80061a160d_0_1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80061a160d_0_1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80061a160d_0_1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80061a160d_0_2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80061a160d_0_2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80061a160d_0_1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80061a160d_0_1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80061a160d_0_2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80061a160d_0_2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6eb8f04f16_2_1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6eb8f04f16_2_1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80061a160d_0_3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80061a160d_0_3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80061a160d_0_5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380061a160d_0_5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80061a160d_0_5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80061a160d_0_5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80061a160d_0_5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80061a160d_0_5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80061a160d_0_5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80061a160d_0_5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80061a160d_0_6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380061a160d_0_6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80061a160d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80061a160d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80061a160d_0_5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380061a160d_0_5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80061a160d_0_5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380061a160d_0_5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80061a160d_0_6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g380061a160d_0_6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6eb8f04f16_2_6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36eb8f04f16_2_6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pptmon.com/" TargetMode="External"/><Relationship Id="rId3" Type="http://schemas.openxmlformats.org/officeDocument/2006/relationships/image" Target="../media/image7.png"/><Relationship Id="rId4" Type="http://schemas.openxmlformats.org/officeDocument/2006/relationships/hyperlink" Target="https://pptmon.com/" TargetMode="External"/><Relationship Id="rId9" Type="http://schemas.openxmlformats.org/officeDocument/2006/relationships/image" Target="../media/image3.png"/><Relationship Id="rId5" Type="http://schemas.openxmlformats.org/officeDocument/2006/relationships/hyperlink" Target="http://www.pptmon.com/" TargetMode="External"/><Relationship Id="rId6" Type="http://schemas.openxmlformats.org/officeDocument/2006/relationships/image" Target="../media/image5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pptmon.com/" TargetMode="External"/><Relationship Id="rId3" Type="http://schemas.openxmlformats.org/officeDocument/2006/relationships/image" Target="../media/image7.png"/><Relationship Id="rId4" Type="http://schemas.openxmlformats.org/officeDocument/2006/relationships/hyperlink" Target="https://pptmon.com/" TargetMode="External"/><Relationship Id="rId5" Type="http://schemas.openxmlformats.org/officeDocument/2006/relationships/hyperlink" Target="http://www.pptmon.com/" TargetMode="External"/><Relationship Id="rId6" Type="http://schemas.openxmlformats.org/officeDocument/2006/relationships/image" Target="../media/image4.png"/><Relationship Id="rId7" Type="http://schemas.openxmlformats.org/officeDocument/2006/relationships/image" Target="../media/image1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pptmon.com/" TargetMode="External"/><Relationship Id="rId3" Type="http://schemas.openxmlformats.org/officeDocument/2006/relationships/image" Target="../media/image7.png"/><Relationship Id="rId4" Type="http://schemas.openxmlformats.org/officeDocument/2006/relationships/hyperlink" Target="https://pptmon.com/" TargetMode="External"/><Relationship Id="rId5" Type="http://schemas.openxmlformats.org/officeDocument/2006/relationships/hyperlink" Target="http://www.pptmon.com/" TargetMode="External"/><Relationship Id="rId6" Type="http://schemas.openxmlformats.org/officeDocument/2006/relationships/image" Target="../media/image2.png"/><Relationship Id="rId7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pptmon.com/" TargetMode="External"/><Relationship Id="rId3" Type="http://schemas.openxmlformats.org/officeDocument/2006/relationships/image" Target="../media/image7.png"/><Relationship Id="rId4" Type="http://schemas.openxmlformats.org/officeDocument/2006/relationships/hyperlink" Target="https://pptmon.com/" TargetMode="External"/><Relationship Id="rId5" Type="http://schemas.openxmlformats.org/officeDocument/2006/relationships/hyperlink" Target="http://www.pptmon.com/" TargetMode="External"/><Relationship Id="rId6" Type="http://schemas.openxmlformats.org/officeDocument/2006/relationships/image" Target="../media/image5.png"/><Relationship Id="rId7" Type="http://schemas.openxmlformats.org/officeDocument/2006/relationships/image" Target="../media/image1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pptmon.com/" TargetMode="External"/><Relationship Id="rId3" Type="http://schemas.openxmlformats.org/officeDocument/2006/relationships/image" Target="../media/image7.png"/><Relationship Id="rId4" Type="http://schemas.openxmlformats.org/officeDocument/2006/relationships/hyperlink" Target="https://pptmon.com/" TargetMode="External"/><Relationship Id="rId5" Type="http://schemas.openxmlformats.org/officeDocument/2006/relationships/hyperlink" Target="http://www.pptmon.com/" TargetMode="External"/><Relationship Id="rId6" Type="http://schemas.openxmlformats.org/officeDocument/2006/relationships/image" Target="../media/image13.png"/><Relationship Id="rId7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3.png"/><Relationship Id="rId4" Type="http://schemas.openxmlformats.org/officeDocument/2006/relationships/hyperlink" Target="http://pptmon.com/" TargetMode="External"/><Relationship Id="rId5" Type="http://schemas.openxmlformats.org/officeDocument/2006/relationships/image" Target="../media/image7.png"/><Relationship Id="rId6" Type="http://schemas.openxmlformats.org/officeDocument/2006/relationships/hyperlink" Target="https://pptmon.com/" TargetMode="External"/><Relationship Id="rId7" Type="http://schemas.openxmlformats.org/officeDocument/2006/relationships/hyperlink" Target="http://www.pptmon.com/" TargetMode="Externa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pptmon.com/" TargetMode="External"/><Relationship Id="rId3" Type="http://schemas.openxmlformats.org/officeDocument/2006/relationships/image" Target="../media/image7.png"/><Relationship Id="rId4" Type="http://schemas.openxmlformats.org/officeDocument/2006/relationships/hyperlink" Target="https://pptmon.com/" TargetMode="External"/><Relationship Id="rId5" Type="http://schemas.openxmlformats.org/officeDocument/2006/relationships/hyperlink" Target="http://www.pptmon.com/" TargetMode="External"/><Relationship Id="rId6" Type="http://schemas.openxmlformats.org/officeDocument/2006/relationships/image" Target="../media/image14.png"/><Relationship Id="rId7" Type="http://schemas.openxmlformats.org/officeDocument/2006/relationships/image" Target="../media/image1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pptmon.com/" TargetMode="External"/><Relationship Id="rId3" Type="http://schemas.openxmlformats.org/officeDocument/2006/relationships/image" Target="../media/image7.png"/><Relationship Id="rId4" Type="http://schemas.openxmlformats.org/officeDocument/2006/relationships/hyperlink" Target="https://pptmon.com/" TargetMode="External"/><Relationship Id="rId5" Type="http://schemas.openxmlformats.org/officeDocument/2006/relationships/hyperlink" Target="http://www.pptmon.com/" TargetMode="External"/><Relationship Id="rId6" Type="http://schemas.openxmlformats.org/officeDocument/2006/relationships/image" Target="../media/image4.png"/><Relationship Id="rId7" Type="http://schemas.openxmlformats.org/officeDocument/2006/relationships/image" Target="../media/image1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pptmon.com/" TargetMode="External"/><Relationship Id="rId3" Type="http://schemas.openxmlformats.org/officeDocument/2006/relationships/image" Target="../media/image7.png"/><Relationship Id="rId4" Type="http://schemas.openxmlformats.org/officeDocument/2006/relationships/hyperlink" Target="https://pptmon.com/" TargetMode="External"/><Relationship Id="rId5" Type="http://schemas.openxmlformats.org/officeDocument/2006/relationships/hyperlink" Target="http://www.pptmon.com/" TargetMode="External"/><Relationship Id="rId6" Type="http://schemas.openxmlformats.org/officeDocument/2006/relationships/image" Target="../media/image2.png"/><Relationship Id="rId7" Type="http://schemas.openxmlformats.org/officeDocument/2006/relationships/image" Target="../media/image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pptmon.com/" TargetMode="External"/><Relationship Id="rId3" Type="http://schemas.openxmlformats.org/officeDocument/2006/relationships/image" Target="../media/image7.png"/><Relationship Id="rId4" Type="http://schemas.openxmlformats.org/officeDocument/2006/relationships/hyperlink" Target="https://pptmon.com/" TargetMode="External"/><Relationship Id="rId5" Type="http://schemas.openxmlformats.org/officeDocument/2006/relationships/hyperlink" Target="http://www.pptmon.com/" TargetMode="External"/><Relationship Id="rId6" Type="http://schemas.openxmlformats.org/officeDocument/2006/relationships/image" Target="../media/image5.png"/><Relationship Id="rId7" Type="http://schemas.openxmlformats.org/officeDocument/2006/relationships/image" Target="../media/image1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17.png"/><Relationship Id="rId4" Type="http://schemas.openxmlformats.org/officeDocument/2006/relationships/hyperlink" Target="http://pptmon.com/" TargetMode="External"/><Relationship Id="rId5" Type="http://schemas.openxmlformats.org/officeDocument/2006/relationships/image" Target="../media/image7.png"/><Relationship Id="rId6" Type="http://schemas.openxmlformats.org/officeDocument/2006/relationships/hyperlink" Target="https://pptmon.com/" TargetMode="External"/><Relationship Id="rId7" Type="http://schemas.openxmlformats.org/officeDocument/2006/relationships/hyperlink" Target="http://www.pptmon.com/" TargetMode="Externa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pptmon.com/" TargetMode="External"/><Relationship Id="rId3" Type="http://schemas.openxmlformats.org/officeDocument/2006/relationships/image" Target="../media/image7.png"/><Relationship Id="rId4" Type="http://schemas.openxmlformats.org/officeDocument/2006/relationships/hyperlink" Target="https://pptmon.com/" TargetMode="External"/><Relationship Id="rId5" Type="http://schemas.openxmlformats.org/officeDocument/2006/relationships/hyperlink" Target="http://www.pptmon.com/" TargetMode="External"/><Relationship Id="rId6" Type="http://schemas.openxmlformats.org/officeDocument/2006/relationships/image" Target="../media/image4.png"/><Relationship Id="rId7" Type="http://schemas.openxmlformats.org/officeDocument/2006/relationships/image" Target="../media/image17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pptmon.com/" TargetMode="External"/><Relationship Id="rId3" Type="http://schemas.openxmlformats.org/officeDocument/2006/relationships/image" Target="../media/image7.png"/><Relationship Id="rId4" Type="http://schemas.openxmlformats.org/officeDocument/2006/relationships/hyperlink" Target="https://pptmon.com/" TargetMode="External"/><Relationship Id="rId5" Type="http://schemas.openxmlformats.org/officeDocument/2006/relationships/hyperlink" Target="http://www.pptmon.com/" TargetMode="External"/><Relationship Id="rId6" Type="http://schemas.openxmlformats.org/officeDocument/2006/relationships/image" Target="../media/image2.png"/><Relationship Id="rId7" Type="http://schemas.openxmlformats.org/officeDocument/2006/relationships/image" Target="../media/image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pptmon.com/" TargetMode="External"/><Relationship Id="rId3" Type="http://schemas.openxmlformats.org/officeDocument/2006/relationships/image" Target="../media/image7.png"/><Relationship Id="rId4" Type="http://schemas.openxmlformats.org/officeDocument/2006/relationships/hyperlink" Target="https://pptmon.com/" TargetMode="External"/><Relationship Id="rId5" Type="http://schemas.openxmlformats.org/officeDocument/2006/relationships/hyperlink" Target="http://www.pptmon.com/" TargetMode="External"/><Relationship Id="rId6" Type="http://schemas.openxmlformats.org/officeDocument/2006/relationships/image" Target="../media/image5.png"/><Relationship Id="rId7" Type="http://schemas.openxmlformats.org/officeDocument/2006/relationships/image" Target="../media/image14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pptmon.com/" TargetMode="External"/><Relationship Id="rId3" Type="http://schemas.openxmlformats.org/officeDocument/2006/relationships/image" Target="../media/image7.png"/><Relationship Id="rId4" Type="http://schemas.openxmlformats.org/officeDocument/2006/relationships/hyperlink" Target="https://pptmon.com/" TargetMode="External"/><Relationship Id="rId5" Type="http://schemas.openxmlformats.org/officeDocument/2006/relationships/hyperlink" Target="http://www.pptmon.com/" TargetMode="Externa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pptmon.com/" TargetMode="External"/><Relationship Id="rId3" Type="http://schemas.openxmlformats.org/officeDocument/2006/relationships/image" Target="../media/image7.png"/><Relationship Id="rId4" Type="http://schemas.openxmlformats.org/officeDocument/2006/relationships/hyperlink" Target="https://pptmon.com/" TargetMode="External"/><Relationship Id="rId5" Type="http://schemas.openxmlformats.org/officeDocument/2006/relationships/hyperlink" Target="http://www.pptmon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MON title">
  <p:cSld name="PPTMON 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29909" r="0" t="0"/>
          <a:stretch/>
        </p:blipFill>
        <p:spPr>
          <a:xfrm>
            <a:off x="4327600" y="5151944"/>
            <a:ext cx="1679403" cy="184666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4">
            <a:hlinkClick r:id="rId4"/>
          </p:cNvPr>
          <p:cNvSpPr txBox="1"/>
          <p:nvPr/>
        </p:nvSpPr>
        <p:spPr>
          <a:xfrm>
            <a:off x="3136998" y="5103248"/>
            <a:ext cx="1275459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Presentation template by</a:t>
            </a:r>
            <a:endParaRPr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74792" y="0"/>
            <a:ext cx="1169208" cy="977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4300137"/>
            <a:ext cx="1164416" cy="843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50596" y="2670912"/>
            <a:ext cx="1993404" cy="2472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0" y="293188"/>
            <a:ext cx="1945486" cy="3210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PTMON slide">
  <p:cSld name="1_PPTMON slid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29909" r="0" t="0"/>
          <a:stretch/>
        </p:blipFill>
        <p:spPr>
          <a:xfrm>
            <a:off x="4327600" y="5151944"/>
            <a:ext cx="1679403" cy="184666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5">
            <a:hlinkClick r:id="rId4"/>
          </p:cNvPr>
          <p:cNvSpPr txBox="1"/>
          <p:nvPr/>
        </p:nvSpPr>
        <p:spPr>
          <a:xfrm>
            <a:off x="3136998" y="5103248"/>
            <a:ext cx="1275459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Presentation template by</a:t>
            </a:r>
            <a:endParaRPr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" name="Google Shape;6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0"/>
            <a:ext cx="1039828" cy="972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5"/>
          <p:cNvPicPr preferRelativeResize="0"/>
          <p:nvPr/>
        </p:nvPicPr>
        <p:blipFill rotWithShape="1">
          <a:blip r:embed="rId7">
            <a:alphaModFix/>
          </a:blip>
          <a:srcRect b="55406" l="24346" r="1587" t="0"/>
          <a:stretch/>
        </p:blipFill>
        <p:spPr>
          <a:xfrm>
            <a:off x="6915150" y="4312265"/>
            <a:ext cx="2228850" cy="8312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PPTMON slide">
  <p:cSld name="2_PPTMON slide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29909" r="0" t="0"/>
          <a:stretch/>
        </p:blipFill>
        <p:spPr>
          <a:xfrm>
            <a:off x="4327600" y="5151944"/>
            <a:ext cx="1679403" cy="184666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6">
            <a:hlinkClick r:id="rId4"/>
          </p:cNvPr>
          <p:cNvSpPr txBox="1"/>
          <p:nvPr/>
        </p:nvSpPr>
        <p:spPr>
          <a:xfrm>
            <a:off x="3136998" y="5103248"/>
            <a:ext cx="1275459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Presentation template by</a:t>
            </a:r>
            <a:endParaRPr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" name="Google Shape;6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 rot="5400000">
            <a:off x="8111360" y="246076"/>
            <a:ext cx="1164416" cy="90086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flipH="1">
            <a:off x="1" y="4386396"/>
            <a:ext cx="1800225" cy="757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PPTMON slide">
  <p:cSld name="3_PPTMON slide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29909" r="0" t="0"/>
          <a:stretch/>
        </p:blipFill>
        <p:spPr>
          <a:xfrm>
            <a:off x="4327600" y="5151944"/>
            <a:ext cx="1679403" cy="18466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7">
            <a:hlinkClick r:id="rId4"/>
          </p:cNvPr>
          <p:cNvSpPr txBox="1"/>
          <p:nvPr/>
        </p:nvSpPr>
        <p:spPr>
          <a:xfrm>
            <a:off x="3136998" y="5103248"/>
            <a:ext cx="1275459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Presentation template by</a:t>
            </a:r>
            <a:endParaRPr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" name="Google Shape;7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5400000">
            <a:off x="-95836" y="95837"/>
            <a:ext cx="1169208" cy="977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7"/>
          <p:cNvPicPr preferRelativeResize="0"/>
          <p:nvPr/>
        </p:nvPicPr>
        <p:blipFill rotWithShape="1">
          <a:blip r:embed="rId7">
            <a:alphaModFix/>
          </a:blip>
          <a:srcRect b="26827" l="0" r="0" t="0"/>
          <a:stretch/>
        </p:blipFill>
        <p:spPr>
          <a:xfrm flipH="1" rot="-5400000">
            <a:off x="7803635" y="3803135"/>
            <a:ext cx="1405270" cy="1275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PPTMON slide">
  <p:cSld name="4_PPTMON slid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29909" r="0" t="0"/>
          <a:stretch/>
        </p:blipFill>
        <p:spPr>
          <a:xfrm>
            <a:off x="4327600" y="5151944"/>
            <a:ext cx="1679403" cy="184666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8">
            <a:hlinkClick r:id="rId4"/>
          </p:cNvPr>
          <p:cNvSpPr txBox="1"/>
          <p:nvPr/>
        </p:nvSpPr>
        <p:spPr>
          <a:xfrm>
            <a:off x="3136998" y="5103248"/>
            <a:ext cx="1275459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Presentation template by</a:t>
            </a:r>
            <a:endParaRPr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10800000">
            <a:off x="7979584" y="0"/>
            <a:ext cx="1164416" cy="843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8"/>
          <p:cNvPicPr preferRelativeResize="0"/>
          <p:nvPr/>
        </p:nvPicPr>
        <p:blipFill rotWithShape="1">
          <a:blip r:embed="rId7">
            <a:alphaModFix/>
          </a:blip>
          <a:srcRect b="0" l="15184" r="0" t="36263"/>
          <a:stretch/>
        </p:blipFill>
        <p:spPr>
          <a:xfrm rot="-5400000">
            <a:off x="198098" y="3295310"/>
            <a:ext cx="1650092" cy="20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PPTMON slide">
  <p:cSld name="9_PPTMON slid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0" y="0"/>
            <a:ext cx="1164416" cy="843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9"/>
          <p:cNvPicPr preferRelativeResize="0"/>
          <p:nvPr/>
        </p:nvPicPr>
        <p:blipFill rotWithShape="1">
          <a:blip r:embed="rId3">
            <a:alphaModFix/>
          </a:blip>
          <a:srcRect b="0" l="15184" r="0" t="36263"/>
          <a:stretch/>
        </p:blipFill>
        <p:spPr>
          <a:xfrm flipH="1" rot="5400000">
            <a:off x="7295810" y="3295310"/>
            <a:ext cx="1650092" cy="20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9"/>
          <p:cNvSpPr/>
          <p:nvPr>
            <p:ph idx="2" type="pic"/>
          </p:nvPr>
        </p:nvSpPr>
        <p:spPr>
          <a:xfrm>
            <a:off x="5305425" y="567809"/>
            <a:ext cx="3232793" cy="400788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pic>
        <p:nvPicPr>
          <p:cNvPr id="82" name="Google Shape;82;p19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29909" r="0" t="0"/>
          <a:stretch/>
        </p:blipFill>
        <p:spPr>
          <a:xfrm>
            <a:off x="4327600" y="5151944"/>
            <a:ext cx="1679403" cy="184666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9">
            <a:hlinkClick r:id="rId6"/>
          </p:cNvPr>
          <p:cNvSpPr txBox="1"/>
          <p:nvPr/>
        </p:nvSpPr>
        <p:spPr>
          <a:xfrm>
            <a:off x="3136998" y="5103248"/>
            <a:ext cx="1275459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Presentation template by</a:t>
            </a:r>
            <a:endParaRPr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PPTMON slide">
  <p:cSld name="5_PPTMON slide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2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29909" r="0" t="0"/>
          <a:stretch/>
        </p:blipFill>
        <p:spPr>
          <a:xfrm>
            <a:off x="4327600" y="5151944"/>
            <a:ext cx="1679403" cy="18466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20">
            <a:hlinkClick r:id="rId4"/>
          </p:cNvPr>
          <p:cNvSpPr txBox="1"/>
          <p:nvPr/>
        </p:nvSpPr>
        <p:spPr>
          <a:xfrm>
            <a:off x="3136998" y="5103248"/>
            <a:ext cx="1275459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Presentation template by</a:t>
            </a:r>
            <a:endParaRPr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20"/>
          <p:cNvPicPr preferRelativeResize="0"/>
          <p:nvPr/>
        </p:nvPicPr>
        <p:blipFill rotWithShape="1">
          <a:blip r:embed="rId6">
            <a:alphaModFix/>
          </a:blip>
          <a:srcRect b="35904" l="0" r="7218" t="0"/>
          <a:stretch/>
        </p:blipFill>
        <p:spPr>
          <a:xfrm>
            <a:off x="7294472" y="3558668"/>
            <a:ext cx="1849529" cy="1584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20"/>
          <p:cNvPicPr preferRelativeResize="0"/>
          <p:nvPr/>
        </p:nvPicPr>
        <p:blipFill rotWithShape="1">
          <a:blip r:embed="rId7">
            <a:alphaModFix/>
          </a:blip>
          <a:srcRect b="0" l="0" r="27041" t="67546"/>
          <a:stretch/>
        </p:blipFill>
        <p:spPr>
          <a:xfrm flipH="1">
            <a:off x="0" y="-1"/>
            <a:ext cx="2195513" cy="6049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PPTMON slide">
  <p:cSld name="6_PPTMON slide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29909" r="0" t="0"/>
          <a:stretch/>
        </p:blipFill>
        <p:spPr>
          <a:xfrm>
            <a:off x="4327600" y="5151944"/>
            <a:ext cx="1679403" cy="18466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1">
            <a:hlinkClick r:id="rId4"/>
          </p:cNvPr>
          <p:cNvSpPr txBox="1"/>
          <p:nvPr/>
        </p:nvSpPr>
        <p:spPr>
          <a:xfrm>
            <a:off x="3136998" y="5103248"/>
            <a:ext cx="1275459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Presentation template by</a:t>
            </a:r>
            <a:endParaRPr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>
            <a:off x="8104172" y="0"/>
            <a:ext cx="1039829" cy="972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21"/>
          <p:cNvPicPr preferRelativeResize="0"/>
          <p:nvPr/>
        </p:nvPicPr>
        <p:blipFill rotWithShape="1">
          <a:blip r:embed="rId7">
            <a:alphaModFix/>
          </a:blip>
          <a:srcRect b="55406" l="24346" r="1587" t="0"/>
          <a:stretch/>
        </p:blipFill>
        <p:spPr>
          <a:xfrm flipH="1">
            <a:off x="0" y="4312265"/>
            <a:ext cx="2228850" cy="8312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PPTMON slide">
  <p:cSld name="7_PPTMON slide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29909" r="0" t="0"/>
          <a:stretch/>
        </p:blipFill>
        <p:spPr>
          <a:xfrm>
            <a:off x="4327600" y="5151944"/>
            <a:ext cx="1679403" cy="184666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2">
            <a:hlinkClick r:id="rId4"/>
          </p:cNvPr>
          <p:cNvSpPr txBox="1"/>
          <p:nvPr/>
        </p:nvSpPr>
        <p:spPr>
          <a:xfrm>
            <a:off x="3136998" y="5103248"/>
            <a:ext cx="1275459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Presentation template by</a:t>
            </a:r>
            <a:endParaRPr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5400000">
            <a:off x="-131774" y="246076"/>
            <a:ext cx="1164416" cy="900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43776" y="4386396"/>
            <a:ext cx="1800225" cy="757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PPTMON slide">
  <p:cSld name="8_PPTMON slide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29909" r="0" t="0"/>
          <a:stretch/>
        </p:blipFill>
        <p:spPr>
          <a:xfrm>
            <a:off x="4327600" y="5151944"/>
            <a:ext cx="1679403" cy="184666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3">
            <a:hlinkClick r:id="rId4"/>
          </p:cNvPr>
          <p:cNvSpPr txBox="1"/>
          <p:nvPr/>
        </p:nvSpPr>
        <p:spPr>
          <a:xfrm>
            <a:off x="3136998" y="5103248"/>
            <a:ext cx="1275459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Presentation template by</a:t>
            </a:r>
            <a:endParaRPr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 rot="5400000">
            <a:off x="8070629" y="95837"/>
            <a:ext cx="1169208" cy="977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3"/>
          <p:cNvPicPr preferRelativeResize="0"/>
          <p:nvPr/>
        </p:nvPicPr>
        <p:blipFill rotWithShape="1">
          <a:blip r:embed="rId7">
            <a:alphaModFix/>
          </a:blip>
          <a:srcRect b="26827" l="0" r="0" t="0"/>
          <a:stretch/>
        </p:blipFill>
        <p:spPr>
          <a:xfrm rot="5400000">
            <a:off x="-64905" y="3803135"/>
            <a:ext cx="1405270" cy="1275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PPTMON slide">
  <p:cSld name="10_PPTMON slide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4"/>
          <p:cNvPicPr preferRelativeResize="0"/>
          <p:nvPr/>
        </p:nvPicPr>
        <p:blipFill rotWithShape="1">
          <a:blip r:embed="rId2">
            <a:alphaModFix/>
          </a:blip>
          <a:srcRect b="35904" l="0" r="7218" t="0"/>
          <a:stretch/>
        </p:blipFill>
        <p:spPr>
          <a:xfrm flipH="1">
            <a:off x="0" y="3558668"/>
            <a:ext cx="1849529" cy="1584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4"/>
          <p:cNvPicPr preferRelativeResize="0"/>
          <p:nvPr/>
        </p:nvPicPr>
        <p:blipFill rotWithShape="1">
          <a:blip r:embed="rId3">
            <a:alphaModFix/>
          </a:blip>
          <a:srcRect b="0" l="0" r="27041" t="67546"/>
          <a:stretch/>
        </p:blipFill>
        <p:spPr>
          <a:xfrm>
            <a:off x="6948488" y="-1"/>
            <a:ext cx="2195513" cy="60495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4"/>
          <p:cNvSpPr/>
          <p:nvPr>
            <p:ph idx="2" type="pic"/>
          </p:nvPr>
        </p:nvSpPr>
        <p:spPr>
          <a:xfrm>
            <a:off x="1029103" y="1190625"/>
            <a:ext cx="2056593" cy="251459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08" name="Google Shape;108;p24"/>
          <p:cNvSpPr/>
          <p:nvPr>
            <p:ph idx="3" type="pic"/>
          </p:nvPr>
        </p:nvSpPr>
        <p:spPr>
          <a:xfrm>
            <a:off x="3543501" y="1190625"/>
            <a:ext cx="2056593" cy="251459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09" name="Google Shape;109;p24"/>
          <p:cNvSpPr/>
          <p:nvPr>
            <p:ph idx="4" type="pic"/>
          </p:nvPr>
        </p:nvSpPr>
        <p:spPr>
          <a:xfrm>
            <a:off x="6057898" y="1190625"/>
            <a:ext cx="2056593" cy="251459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pic>
        <p:nvPicPr>
          <p:cNvPr id="110" name="Google Shape;110;p24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29909" r="0" t="0"/>
          <a:stretch/>
        </p:blipFill>
        <p:spPr>
          <a:xfrm>
            <a:off x="4327600" y="5151944"/>
            <a:ext cx="1679403" cy="18466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4">
            <a:hlinkClick r:id="rId6"/>
          </p:cNvPr>
          <p:cNvSpPr txBox="1"/>
          <p:nvPr/>
        </p:nvSpPr>
        <p:spPr>
          <a:xfrm>
            <a:off x="3136998" y="5103248"/>
            <a:ext cx="1275459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Presentation template by</a:t>
            </a:r>
            <a:endParaRPr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PPTMON slide">
  <p:cSld name="11_PPTMON slide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5"/>
          <p:cNvSpPr/>
          <p:nvPr>
            <p:ph idx="2" type="pic"/>
          </p:nvPr>
        </p:nvSpPr>
        <p:spPr>
          <a:xfrm>
            <a:off x="5756274" y="914400"/>
            <a:ext cx="1606550" cy="3317660"/>
          </a:xfrm>
          <a:prstGeom prst="roundRect">
            <a:avLst>
              <a:gd fmla="val 13697" name="adj"/>
            </a:avLst>
          </a:prstGeom>
          <a:solidFill>
            <a:srgbClr val="F2F2F2"/>
          </a:solidFill>
          <a:ln>
            <a:noFill/>
          </a:ln>
        </p:spPr>
      </p:sp>
      <p:pic>
        <p:nvPicPr>
          <p:cNvPr id="114" name="Google Shape;114;p2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29909" r="0" t="0"/>
          <a:stretch/>
        </p:blipFill>
        <p:spPr>
          <a:xfrm>
            <a:off x="4327600" y="5151944"/>
            <a:ext cx="1679403" cy="184666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5">
            <a:hlinkClick r:id="rId4"/>
          </p:cNvPr>
          <p:cNvSpPr txBox="1"/>
          <p:nvPr/>
        </p:nvSpPr>
        <p:spPr>
          <a:xfrm>
            <a:off x="3136998" y="5103248"/>
            <a:ext cx="1275459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Presentation template by</a:t>
            </a:r>
            <a:endParaRPr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 rot="10800000">
            <a:off x="0" y="4170758"/>
            <a:ext cx="1039828" cy="972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5"/>
          <p:cNvPicPr preferRelativeResize="0"/>
          <p:nvPr/>
        </p:nvPicPr>
        <p:blipFill rotWithShape="1">
          <a:blip r:embed="rId7">
            <a:alphaModFix/>
          </a:blip>
          <a:srcRect b="55406" l="24346" r="1587" t="0"/>
          <a:stretch/>
        </p:blipFill>
        <p:spPr>
          <a:xfrm flipH="1" rot="10800000">
            <a:off x="6915150" y="0"/>
            <a:ext cx="2228850" cy="8312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PPTMON slide">
  <p:cSld name="12_PPTMON slide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/>
          <p:nvPr>
            <p:ph idx="2" type="pic"/>
          </p:nvPr>
        </p:nvSpPr>
        <p:spPr>
          <a:xfrm>
            <a:off x="1005607" y="902970"/>
            <a:ext cx="4381733" cy="3337560"/>
          </a:xfrm>
          <a:prstGeom prst="roundRect">
            <a:avLst>
              <a:gd fmla="val 4942" name="adj"/>
            </a:avLst>
          </a:prstGeom>
          <a:solidFill>
            <a:srgbClr val="F2F2F2"/>
          </a:solidFill>
          <a:ln>
            <a:noFill/>
          </a:ln>
        </p:spPr>
      </p:sp>
      <p:pic>
        <p:nvPicPr>
          <p:cNvPr id="120" name="Google Shape;120;p2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29909" r="0" t="0"/>
          <a:stretch/>
        </p:blipFill>
        <p:spPr>
          <a:xfrm>
            <a:off x="4327600" y="5151944"/>
            <a:ext cx="1679403" cy="18466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6">
            <a:hlinkClick r:id="rId4"/>
          </p:cNvPr>
          <p:cNvSpPr txBox="1"/>
          <p:nvPr/>
        </p:nvSpPr>
        <p:spPr>
          <a:xfrm>
            <a:off x="3136998" y="5103248"/>
            <a:ext cx="1275459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Presentation template by</a:t>
            </a:r>
            <a:endParaRPr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5400000">
            <a:off x="8111360" y="3996558"/>
            <a:ext cx="1164416" cy="9008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10800000">
            <a:off x="1" y="0"/>
            <a:ext cx="1800225" cy="757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PPTMON slide">
  <p:cSld name="13_PPTMON slide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/>
          <p:nvPr>
            <p:ph idx="2" type="pic"/>
          </p:nvPr>
        </p:nvSpPr>
        <p:spPr>
          <a:xfrm>
            <a:off x="3263251" y="819150"/>
            <a:ext cx="4839350" cy="3200400"/>
          </a:xfrm>
          <a:prstGeom prst="roundRect">
            <a:avLst>
              <a:gd fmla="val 2113" name="adj"/>
            </a:avLst>
          </a:prstGeom>
          <a:solidFill>
            <a:srgbClr val="F2F2F2"/>
          </a:solidFill>
          <a:ln>
            <a:noFill/>
          </a:ln>
        </p:spPr>
      </p:sp>
      <p:pic>
        <p:nvPicPr>
          <p:cNvPr id="126" name="Google Shape;126;p2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29909" r="0" t="0"/>
          <a:stretch/>
        </p:blipFill>
        <p:spPr>
          <a:xfrm>
            <a:off x="4327600" y="5151944"/>
            <a:ext cx="1679403" cy="18466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7">
            <a:hlinkClick r:id="rId4"/>
          </p:cNvPr>
          <p:cNvSpPr txBox="1"/>
          <p:nvPr/>
        </p:nvSpPr>
        <p:spPr>
          <a:xfrm>
            <a:off x="3136998" y="5103248"/>
            <a:ext cx="1275459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Presentation template by</a:t>
            </a:r>
            <a:endParaRPr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 rot="-5400000">
            <a:off x="-95836" y="4070129"/>
            <a:ext cx="1169208" cy="977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7"/>
          <p:cNvPicPr preferRelativeResize="0"/>
          <p:nvPr/>
        </p:nvPicPr>
        <p:blipFill rotWithShape="1">
          <a:blip r:embed="rId7">
            <a:alphaModFix/>
          </a:blip>
          <a:srcRect b="26827" l="0" r="0" t="0"/>
          <a:stretch/>
        </p:blipFill>
        <p:spPr>
          <a:xfrm rot="-5400000">
            <a:off x="7803635" y="64906"/>
            <a:ext cx="1405270" cy="1275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MON custom">
  <p:cSld name="PPTMON custom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29909" r="0" t="0"/>
          <a:stretch/>
        </p:blipFill>
        <p:spPr>
          <a:xfrm>
            <a:off x="4327600" y="5151944"/>
            <a:ext cx="1679403" cy="18466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8">
            <a:hlinkClick r:id="rId4"/>
          </p:cNvPr>
          <p:cNvSpPr txBox="1"/>
          <p:nvPr/>
        </p:nvSpPr>
        <p:spPr>
          <a:xfrm>
            <a:off x="3136998" y="5103248"/>
            <a:ext cx="1275459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Presentation template by</a:t>
            </a:r>
            <a:endParaRPr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MON slide">
  <p:cSld name="PPTMON slide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29909" r="0" t="0"/>
          <a:stretch/>
        </p:blipFill>
        <p:spPr>
          <a:xfrm>
            <a:off x="4327600" y="5151944"/>
            <a:ext cx="1679403" cy="184666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9">
            <a:hlinkClick r:id="rId4"/>
          </p:cNvPr>
          <p:cNvSpPr txBox="1"/>
          <p:nvPr/>
        </p:nvSpPr>
        <p:spPr>
          <a:xfrm>
            <a:off x="3136998" y="5103248"/>
            <a:ext cx="1275459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Presentation template by</a:t>
            </a:r>
            <a:endParaRPr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theme" Target="../theme/theme3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7.jpg"/><Relationship Id="rId4" Type="http://schemas.openxmlformats.org/officeDocument/2006/relationships/image" Target="../media/image34.jpg"/><Relationship Id="rId5" Type="http://schemas.openxmlformats.org/officeDocument/2006/relationships/image" Target="../media/image2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Relationship Id="rId4" Type="http://schemas.openxmlformats.org/officeDocument/2006/relationships/image" Target="../media/image20.png"/><Relationship Id="rId5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Relationship Id="rId4" Type="http://schemas.openxmlformats.org/officeDocument/2006/relationships/image" Target="../media/image30.png"/><Relationship Id="rId5" Type="http://schemas.openxmlformats.org/officeDocument/2006/relationships/image" Target="../media/image23.png"/><Relationship Id="rId6" Type="http://schemas.openxmlformats.org/officeDocument/2006/relationships/image" Target="../media/image3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6.png"/><Relationship Id="rId4" Type="http://schemas.openxmlformats.org/officeDocument/2006/relationships/image" Target="../media/image25.png"/><Relationship Id="rId5" Type="http://schemas.openxmlformats.org/officeDocument/2006/relationships/image" Target="../media/image38.png"/><Relationship Id="rId6" Type="http://schemas.openxmlformats.org/officeDocument/2006/relationships/image" Target="../media/image35.png"/><Relationship Id="rId7" Type="http://schemas.openxmlformats.org/officeDocument/2006/relationships/image" Target="../media/image2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41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37.png"/><Relationship Id="rId8" Type="http://schemas.openxmlformats.org/officeDocument/2006/relationships/image" Target="../media/image4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4.png"/><Relationship Id="rId4" Type="http://schemas.openxmlformats.org/officeDocument/2006/relationships/image" Target="../media/image51.png"/><Relationship Id="rId5" Type="http://schemas.openxmlformats.org/officeDocument/2006/relationships/image" Target="../media/image46.png"/><Relationship Id="rId6" Type="http://schemas.openxmlformats.org/officeDocument/2006/relationships/image" Target="../media/image4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5.png"/><Relationship Id="rId4" Type="http://schemas.openxmlformats.org/officeDocument/2006/relationships/image" Target="../media/image5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5.png"/><Relationship Id="rId4" Type="http://schemas.openxmlformats.org/officeDocument/2006/relationships/image" Target="../media/image5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5.png"/><Relationship Id="rId4" Type="http://schemas.openxmlformats.org/officeDocument/2006/relationships/image" Target="../media/image5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5.jpg"/><Relationship Id="rId4" Type="http://schemas.openxmlformats.org/officeDocument/2006/relationships/image" Target="../media/image50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5.jpg"/><Relationship Id="rId4" Type="http://schemas.openxmlformats.org/officeDocument/2006/relationships/image" Target="../media/image50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8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/>
          <p:nvPr/>
        </p:nvSpPr>
        <p:spPr>
          <a:xfrm>
            <a:off x="2661525" y="1702575"/>
            <a:ext cx="3821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0">
                <a:solidFill>
                  <a:schemeClr val="dk1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Money vs </a:t>
            </a:r>
            <a:r>
              <a:rPr lang="ko" sz="5000">
                <a:solidFill>
                  <a:schemeClr val="dk1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Sleep:</a:t>
            </a:r>
            <a:endParaRPr sz="2300">
              <a:solidFill>
                <a:schemeClr val="dk1"/>
              </a:solidFill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141" name="Google Shape;141;p30"/>
          <p:cNvSpPr txBox="1"/>
          <p:nvPr/>
        </p:nvSpPr>
        <p:spPr>
          <a:xfrm>
            <a:off x="1312054" y="3156218"/>
            <a:ext cx="6519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데이터 분석 리포트｜양지</a:t>
            </a:r>
            <a:r>
              <a:rPr lang="ko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훈</a:t>
            </a:r>
            <a:r>
              <a:rPr lang="ko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｜  </a:t>
            </a:r>
            <a:r>
              <a:rPr lang="ko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2025. 09. 17</a:t>
            </a:r>
            <a:endParaRPr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42" name="Google Shape;142;p30"/>
          <p:cNvSpPr txBox="1"/>
          <p:nvPr/>
        </p:nvSpPr>
        <p:spPr>
          <a:xfrm>
            <a:off x="1861875" y="2541375"/>
            <a:ext cx="54204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>
                <a:solidFill>
                  <a:schemeClr val="dk1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행복도에 더 많은 영향을 끼치는 요소</a:t>
            </a:r>
            <a:endParaRPr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1"/>
          <p:cNvSpPr txBox="1"/>
          <p:nvPr/>
        </p:nvSpPr>
        <p:spPr>
          <a:xfrm>
            <a:off x="1381646" y="1226834"/>
            <a:ext cx="638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600">
                <a:solidFill>
                  <a:schemeClr val="dk1"/>
                </a:solidFill>
                <a:latin typeface="Dancing Script SemiBold"/>
                <a:ea typeface="Dancing Script SemiBold"/>
                <a:cs typeface="Dancing Script SemiBold"/>
                <a:sym typeface="Dancing Script SemiBold"/>
              </a:rPr>
              <a:t>Contents</a:t>
            </a:r>
            <a:endParaRPr sz="2600">
              <a:solidFill>
                <a:schemeClr val="dk1"/>
              </a:solidFill>
              <a:latin typeface="Dancing Script SemiBold"/>
              <a:ea typeface="Dancing Script SemiBold"/>
              <a:cs typeface="Dancing Script SemiBold"/>
              <a:sym typeface="Dancing Script SemiBold"/>
            </a:endParaRPr>
          </a:p>
        </p:txBody>
      </p:sp>
      <p:sp>
        <p:nvSpPr>
          <p:cNvPr id="148" name="Google Shape;148;p31"/>
          <p:cNvSpPr txBox="1"/>
          <p:nvPr/>
        </p:nvSpPr>
        <p:spPr>
          <a:xfrm>
            <a:off x="1389322" y="2923963"/>
            <a:ext cx="19227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39700" lvl="0" marL="127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ko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목표 및 문제 정의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39700" lvl="0" marL="127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Light"/>
              <a:buChar char="▪"/>
            </a:pPr>
            <a:r>
              <a:rPr lang="ko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데이터 소개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49" name="Google Shape;149;p31"/>
          <p:cNvSpPr/>
          <p:nvPr/>
        </p:nvSpPr>
        <p:spPr>
          <a:xfrm>
            <a:off x="1389322" y="2510413"/>
            <a:ext cx="19227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chemeClr val="dk1"/>
                </a:solidFill>
                <a:latin typeface="Dancing Script SemiBold"/>
                <a:ea typeface="Dancing Script SemiBold"/>
                <a:cs typeface="Dancing Script SemiBold"/>
                <a:sym typeface="Dancing Script SemiBold"/>
              </a:rPr>
              <a:t>Introduction</a:t>
            </a:r>
            <a:endParaRPr sz="1600">
              <a:solidFill>
                <a:schemeClr val="dk1"/>
              </a:solidFill>
              <a:latin typeface="Dancing Script SemiBold"/>
              <a:ea typeface="Dancing Script SemiBold"/>
              <a:cs typeface="Dancing Script SemiBold"/>
              <a:sym typeface="Dancing Script SemiBold"/>
            </a:endParaRPr>
          </a:p>
        </p:txBody>
      </p:sp>
      <p:sp>
        <p:nvSpPr>
          <p:cNvPr id="150" name="Google Shape;150;p31"/>
          <p:cNvSpPr/>
          <p:nvPr/>
        </p:nvSpPr>
        <p:spPr>
          <a:xfrm>
            <a:off x="1376743" y="2071832"/>
            <a:ext cx="1650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300">
                <a:solidFill>
                  <a:schemeClr val="dk1"/>
                </a:solidFill>
                <a:latin typeface="Dancing Script SemiBold"/>
                <a:ea typeface="Dancing Script SemiBold"/>
                <a:cs typeface="Dancing Script SemiBold"/>
                <a:sym typeface="Dancing Script SemiBold"/>
              </a:rPr>
              <a:t>01</a:t>
            </a:r>
            <a:endParaRPr sz="2300">
              <a:solidFill>
                <a:schemeClr val="dk1"/>
              </a:solidFill>
              <a:latin typeface="Dancing Script SemiBold"/>
              <a:ea typeface="Dancing Script SemiBold"/>
              <a:cs typeface="Dancing Script SemiBold"/>
              <a:sym typeface="Dancing Script SemiBold"/>
            </a:endParaRPr>
          </a:p>
        </p:txBody>
      </p:sp>
      <p:sp>
        <p:nvSpPr>
          <p:cNvPr id="151" name="Google Shape;151;p31"/>
          <p:cNvSpPr txBox="1"/>
          <p:nvPr/>
        </p:nvSpPr>
        <p:spPr>
          <a:xfrm>
            <a:off x="3610647" y="2923963"/>
            <a:ext cx="19227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39700" lvl="0" marL="127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ko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전처리 과정 1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39700" lvl="0" marL="127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Light"/>
              <a:buChar char="▪"/>
            </a:pPr>
            <a:r>
              <a:rPr lang="ko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전처리 과정 2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39700" lvl="0" marL="127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Light"/>
              <a:buChar char="▪"/>
            </a:pPr>
            <a:r>
              <a:rPr lang="ko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데이터 분석 1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39700" lvl="0" marL="127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Light"/>
              <a:buChar char="▪"/>
            </a:pPr>
            <a:r>
              <a:rPr lang="ko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데이터 분석 2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39700" lvl="0" marL="127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Light"/>
              <a:buChar char="▪"/>
            </a:pPr>
            <a:r>
              <a:rPr lang="ko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시각화 자료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52" name="Google Shape;152;p31"/>
          <p:cNvSpPr/>
          <p:nvPr/>
        </p:nvSpPr>
        <p:spPr>
          <a:xfrm>
            <a:off x="3610646" y="2510413"/>
            <a:ext cx="19227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chemeClr val="dk1"/>
                </a:solidFill>
                <a:latin typeface="Dancing Script SemiBold"/>
                <a:ea typeface="Dancing Script SemiBold"/>
                <a:cs typeface="Dancing Script SemiBold"/>
                <a:sym typeface="Dancing Script SemiBold"/>
              </a:rPr>
              <a:t>Body</a:t>
            </a:r>
            <a:endParaRPr sz="1600">
              <a:solidFill>
                <a:schemeClr val="dk1"/>
              </a:solidFill>
              <a:latin typeface="Dancing Script SemiBold"/>
              <a:ea typeface="Dancing Script SemiBold"/>
              <a:cs typeface="Dancing Script SemiBold"/>
              <a:sym typeface="Dancing Script SemiBold"/>
            </a:endParaRPr>
          </a:p>
        </p:txBody>
      </p:sp>
      <p:sp>
        <p:nvSpPr>
          <p:cNvPr id="153" name="Google Shape;153;p31"/>
          <p:cNvSpPr/>
          <p:nvPr/>
        </p:nvSpPr>
        <p:spPr>
          <a:xfrm>
            <a:off x="3598068" y="2071832"/>
            <a:ext cx="1650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300">
                <a:solidFill>
                  <a:schemeClr val="dk1"/>
                </a:solidFill>
                <a:latin typeface="Dancing Script SemiBold"/>
                <a:ea typeface="Dancing Script SemiBold"/>
                <a:cs typeface="Dancing Script SemiBold"/>
                <a:sym typeface="Dancing Script SemiBold"/>
              </a:rPr>
              <a:t>02</a:t>
            </a:r>
            <a:endParaRPr sz="2300">
              <a:solidFill>
                <a:schemeClr val="dk1"/>
              </a:solidFill>
              <a:latin typeface="Dancing Script SemiBold"/>
              <a:ea typeface="Dancing Script SemiBold"/>
              <a:cs typeface="Dancing Script SemiBold"/>
              <a:sym typeface="Dancing Script SemiBold"/>
            </a:endParaRPr>
          </a:p>
        </p:txBody>
      </p:sp>
      <p:sp>
        <p:nvSpPr>
          <p:cNvPr id="154" name="Google Shape;154;p31"/>
          <p:cNvSpPr txBox="1"/>
          <p:nvPr/>
        </p:nvSpPr>
        <p:spPr>
          <a:xfrm>
            <a:off x="5844547" y="2923963"/>
            <a:ext cx="19227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39700" lvl="0" marL="127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ko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인사이트 도출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39700" lvl="0" marL="127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Light"/>
              <a:buChar char="▪"/>
            </a:pPr>
            <a:r>
              <a:rPr lang="ko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한계점 및 추가 분석 방향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55" name="Google Shape;155;p31"/>
          <p:cNvSpPr/>
          <p:nvPr/>
        </p:nvSpPr>
        <p:spPr>
          <a:xfrm>
            <a:off x="5844547" y="2510413"/>
            <a:ext cx="19227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chemeClr val="dk1"/>
                </a:solidFill>
                <a:latin typeface="Dancing Script SemiBold"/>
                <a:ea typeface="Dancing Script SemiBold"/>
                <a:cs typeface="Dancing Script SemiBold"/>
                <a:sym typeface="Dancing Script SemiBold"/>
              </a:rPr>
              <a:t>Conclusion</a:t>
            </a:r>
            <a:endParaRPr sz="1600">
              <a:solidFill>
                <a:schemeClr val="dk1"/>
              </a:solidFill>
              <a:latin typeface="Dancing Script SemiBold"/>
              <a:ea typeface="Dancing Script SemiBold"/>
              <a:cs typeface="Dancing Script SemiBold"/>
              <a:sym typeface="Dancing Script SemiBold"/>
            </a:endParaRPr>
          </a:p>
        </p:txBody>
      </p:sp>
      <p:sp>
        <p:nvSpPr>
          <p:cNvPr id="156" name="Google Shape;156;p31"/>
          <p:cNvSpPr/>
          <p:nvPr/>
        </p:nvSpPr>
        <p:spPr>
          <a:xfrm>
            <a:off x="5831968" y="2071832"/>
            <a:ext cx="1650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300">
                <a:solidFill>
                  <a:schemeClr val="dk1"/>
                </a:solidFill>
                <a:latin typeface="Dancing Script SemiBold"/>
                <a:ea typeface="Dancing Script SemiBold"/>
                <a:cs typeface="Dancing Script SemiBold"/>
                <a:sym typeface="Dancing Script SemiBold"/>
              </a:rPr>
              <a:t>03</a:t>
            </a:r>
            <a:endParaRPr sz="2300">
              <a:solidFill>
                <a:schemeClr val="dk1"/>
              </a:solidFill>
              <a:latin typeface="Dancing Script SemiBold"/>
              <a:ea typeface="Dancing Script SemiBold"/>
              <a:cs typeface="Dancing Script SemiBold"/>
              <a:sym typeface="Dancing Script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2"/>
          <p:cNvSpPr txBox="1"/>
          <p:nvPr/>
        </p:nvSpPr>
        <p:spPr>
          <a:xfrm>
            <a:off x="2634306" y="1788790"/>
            <a:ext cx="38754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3600">
                <a:solidFill>
                  <a:schemeClr val="dk1"/>
                </a:solidFill>
                <a:latin typeface="Dancing Script SemiBold"/>
                <a:ea typeface="Dancing Script SemiBold"/>
                <a:cs typeface="Dancing Script SemiBold"/>
                <a:sym typeface="Dancing Script SemiBold"/>
              </a:rPr>
              <a:t>Introduction</a:t>
            </a:r>
            <a:endParaRPr sz="1100"/>
          </a:p>
        </p:txBody>
      </p:sp>
      <p:sp>
        <p:nvSpPr>
          <p:cNvPr id="162" name="Google Shape;162;p32"/>
          <p:cNvSpPr txBox="1"/>
          <p:nvPr/>
        </p:nvSpPr>
        <p:spPr>
          <a:xfrm>
            <a:off x="3816675" y="2916100"/>
            <a:ext cx="1510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-139700" lvl="0" marL="127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ko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목표 및 문제 정의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39700" lvl="0" marL="127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Light"/>
              <a:buChar char="▪"/>
            </a:pPr>
            <a:r>
              <a:rPr lang="ko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데이터 소개</a:t>
            </a:r>
            <a:endParaRPr sz="9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3"/>
          <p:cNvSpPr txBox="1"/>
          <p:nvPr/>
        </p:nvSpPr>
        <p:spPr>
          <a:xfrm>
            <a:off x="1027913" y="1281494"/>
            <a:ext cx="2888756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700">
                <a:solidFill>
                  <a:schemeClr val="dk1"/>
                </a:solidFill>
                <a:latin typeface="Dancing Script SemiBold"/>
                <a:ea typeface="Dancing Script SemiBold"/>
                <a:cs typeface="Dancing Script SemiBold"/>
                <a:sym typeface="Dancing Script SemiBold"/>
              </a:rPr>
              <a:t>목표 및 문제 정의</a:t>
            </a:r>
            <a:endParaRPr sz="2700">
              <a:solidFill>
                <a:schemeClr val="dk1"/>
              </a:solidFill>
              <a:latin typeface="Dancing Script SemiBold"/>
              <a:ea typeface="Dancing Script SemiBold"/>
              <a:cs typeface="Dancing Script SemiBold"/>
              <a:sym typeface="Dancing Script SemiBold"/>
            </a:endParaRPr>
          </a:p>
        </p:txBody>
      </p:sp>
      <p:sp>
        <p:nvSpPr>
          <p:cNvPr id="168" name="Google Shape;168;p33"/>
          <p:cNvSpPr txBox="1"/>
          <p:nvPr/>
        </p:nvSpPr>
        <p:spPr>
          <a:xfrm>
            <a:off x="1028700" y="2390723"/>
            <a:ext cx="34569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Python의 다양한 데이터 관련 라이브러리를 이용해 실제 데이터를 정제, 분석, 시각화하고, 분석 내용을 구조화된 보고서로 작성하여 데이터 기반으로 문제 해결 능력 및 인사이트를 도출하는 능력 향상</a:t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69" name="Google Shape;169;p33"/>
          <p:cNvSpPr/>
          <p:nvPr/>
        </p:nvSpPr>
        <p:spPr>
          <a:xfrm>
            <a:off x="1027913" y="2079652"/>
            <a:ext cx="3449298" cy="3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latin typeface="Dancing Script SemiBold"/>
                <a:ea typeface="Dancing Script SemiBold"/>
                <a:cs typeface="Dancing Script SemiBold"/>
                <a:sym typeface="Dancing Script SemiBold"/>
              </a:rPr>
              <a:t>목표</a:t>
            </a:r>
            <a:endParaRPr sz="1500">
              <a:solidFill>
                <a:schemeClr val="dk1"/>
              </a:solidFill>
              <a:latin typeface="Dancing Script SemiBold"/>
              <a:ea typeface="Dancing Script SemiBold"/>
              <a:cs typeface="Dancing Script SemiBold"/>
              <a:sym typeface="Dancing Script SemiBold"/>
            </a:endParaRPr>
          </a:p>
        </p:txBody>
      </p:sp>
      <p:sp>
        <p:nvSpPr>
          <p:cNvPr id="170" name="Google Shape;170;p33"/>
          <p:cNvSpPr txBox="1"/>
          <p:nvPr/>
        </p:nvSpPr>
        <p:spPr>
          <a:xfrm>
            <a:off x="1028700" y="3560800"/>
            <a:ext cx="3636000" cy="13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270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ko" sz="1000">
                <a:solidFill>
                  <a:schemeClr val="dk1"/>
                </a:solidFill>
              </a:rPr>
              <a:t>국가별 GDP와 인구 데이터를 결합하여 경제 성장률이 행복 지수에 미치는 영향을 분석한다.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ko" sz="1000">
                <a:solidFill>
                  <a:schemeClr val="dk1"/>
                </a:solidFill>
              </a:rPr>
              <a:t>2024년 데이터를 기준으로 평균 수면 시간과 행복도를 비교하여, 경제적 측면과 기본적인 욕구 중 무엇이 사람의 행복도에 더 많은 영향을 미치는지 파악한다.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270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71" name="Google Shape;171;p33"/>
          <p:cNvSpPr/>
          <p:nvPr/>
        </p:nvSpPr>
        <p:spPr>
          <a:xfrm>
            <a:off x="1027913" y="3249731"/>
            <a:ext cx="3449298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latin typeface="Dancing Script SemiBold"/>
                <a:ea typeface="Dancing Script SemiBold"/>
                <a:cs typeface="Dancing Script SemiBold"/>
                <a:sym typeface="Dancing Script SemiBold"/>
              </a:rPr>
              <a:t>문제 정의</a:t>
            </a:r>
            <a:endParaRPr sz="1500">
              <a:solidFill>
                <a:schemeClr val="dk1"/>
              </a:solidFill>
              <a:latin typeface="Dancing Script SemiBold"/>
              <a:ea typeface="Dancing Script SemiBold"/>
              <a:cs typeface="Dancing Script SemiBold"/>
              <a:sym typeface="Dancing Script SemiBold"/>
            </a:endParaRPr>
          </a:p>
        </p:txBody>
      </p:sp>
      <p:pic>
        <p:nvPicPr>
          <p:cNvPr id="172" name="Google Shape;172;p33" title="dataimag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1875" y="1623787"/>
            <a:ext cx="3560625" cy="228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/>
          <p:nvPr/>
        </p:nvSpPr>
        <p:spPr>
          <a:xfrm>
            <a:off x="858777" y="542639"/>
            <a:ext cx="2888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700">
                <a:solidFill>
                  <a:schemeClr val="dk1"/>
                </a:solidFill>
                <a:latin typeface="Dancing Script SemiBold"/>
                <a:ea typeface="Dancing Script SemiBold"/>
                <a:cs typeface="Dancing Script SemiBold"/>
                <a:sym typeface="Dancing Script SemiBold"/>
              </a:rPr>
              <a:t>데이터 소개 </a:t>
            </a:r>
            <a:endParaRPr sz="1900">
              <a:solidFill>
                <a:schemeClr val="dk1"/>
              </a:solidFill>
              <a:latin typeface="Dancing Script SemiBold"/>
              <a:ea typeface="Dancing Script SemiBold"/>
              <a:cs typeface="Dancing Script SemiBold"/>
              <a:sym typeface="Dancing Script SemiBold"/>
            </a:endParaRPr>
          </a:p>
        </p:txBody>
      </p:sp>
      <p:sp>
        <p:nvSpPr>
          <p:cNvPr id="178" name="Google Shape;178;p34"/>
          <p:cNvSpPr txBox="1"/>
          <p:nvPr/>
        </p:nvSpPr>
        <p:spPr>
          <a:xfrm>
            <a:off x="859564" y="1375917"/>
            <a:ext cx="34569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출처</a:t>
            </a:r>
            <a:r>
              <a:rPr lang="ko" sz="1100">
                <a:solidFill>
                  <a:schemeClr val="dk1"/>
                </a:solidFill>
              </a:rPr>
              <a:t>: World Happiness Report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분석 기간</a:t>
            </a:r>
            <a:r>
              <a:rPr lang="ko" sz="1100">
                <a:solidFill>
                  <a:schemeClr val="dk1"/>
                </a:solidFill>
              </a:rPr>
              <a:t>: 2020년 ~ 2024년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ko" sz="1100">
                <a:solidFill>
                  <a:schemeClr val="dk1"/>
                </a:solidFill>
              </a:rPr>
              <a:t>주요 변수</a:t>
            </a:r>
            <a:r>
              <a:rPr lang="ko" sz="1100">
                <a:solidFill>
                  <a:schemeClr val="dk1"/>
                </a:solidFill>
              </a:rPr>
              <a:t>: </a:t>
            </a: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Ladder score</a:t>
            </a:r>
            <a:r>
              <a:rPr lang="ko" sz="1100">
                <a:solidFill>
                  <a:schemeClr val="dk1"/>
                </a:solidFill>
              </a:rPr>
              <a:t> (국가별 행복 지수, 0~10점 척도)</a:t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79" name="Google Shape;179;p34"/>
          <p:cNvSpPr/>
          <p:nvPr/>
        </p:nvSpPr>
        <p:spPr>
          <a:xfrm>
            <a:off x="858777" y="1153865"/>
            <a:ext cx="3449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ko" sz="1100">
                <a:solidFill>
                  <a:schemeClr val="dk1"/>
                </a:solidFill>
              </a:rPr>
              <a:t>World Happiness Report (WHR)</a:t>
            </a:r>
            <a:r>
              <a:rPr lang="ko" sz="11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  <a:latin typeface="Dancing Script SemiBold"/>
              <a:ea typeface="Dancing Script SemiBold"/>
              <a:cs typeface="Dancing Script SemiBold"/>
              <a:sym typeface="Dancing Script SemiBold"/>
            </a:endParaRPr>
          </a:p>
        </p:txBody>
      </p:sp>
      <p:sp>
        <p:nvSpPr>
          <p:cNvPr id="180" name="Google Shape;180;p34"/>
          <p:cNvSpPr txBox="1"/>
          <p:nvPr/>
        </p:nvSpPr>
        <p:spPr>
          <a:xfrm>
            <a:off x="852743" y="2445868"/>
            <a:ext cx="3456900" cy="10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출처</a:t>
            </a:r>
            <a:r>
              <a:rPr lang="ko" sz="1100">
                <a:solidFill>
                  <a:schemeClr val="dk1"/>
                </a:solidFill>
              </a:rPr>
              <a:t>: Kaggle (World Bank)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분석 기간</a:t>
            </a:r>
            <a:r>
              <a:rPr lang="ko" sz="1100">
                <a:solidFill>
                  <a:schemeClr val="dk1"/>
                </a:solidFill>
              </a:rPr>
              <a:t>: 2020년 ~ 2024년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주요 변수</a:t>
            </a:r>
            <a:r>
              <a:rPr lang="ko" sz="1100">
                <a:solidFill>
                  <a:schemeClr val="dk1"/>
                </a:solidFill>
              </a:rPr>
              <a:t>: </a:t>
            </a: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GDP (Current USD)</a:t>
            </a:r>
            <a:r>
              <a:rPr lang="ko" sz="1100">
                <a:solidFill>
                  <a:schemeClr val="dk1"/>
                </a:solidFill>
              </a:rPr>
              <a:t>, </a:t>
            </a: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GDP per Capita (Current USD)</a:t>
            </a:r>
            <a:r>
              <a:rPr lang="ko" sz="1100">
                <a:solidFill>
                  <a:schemeClr val="dk1"/>
                </a:solidFill>
              </a:rPr>
              <a:t> (각각 현재 USD 기준 GDP, 1인당 GDP)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ko" sz="1100">
                <a:solidFill>
                  <a:schemeClr val="dk1"/>
                </a:solidFill>
              </a:rPr>
              <a:t>특이사항</a:t>
            </a:r>
            <a:r>
              <a:rPr lang="ko" sz="1100">
                <a:solidFill>
                  <a:schemeClr val="dk1"/>
                </a:solidFill>
              </a:rPr>
              <a:t>: 일부 연도에 결측치가 존재함</a:t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81" name="Google Shape;181;p34"/>
          <p:cNvSpPr/>
          <p:nvPr/>
        </p:nvSpPr>
        <p:spPr>
          <a:xfrm>
            <a:off x="851956" y="2223816"/>
            <a:ext cx="3449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ko" sz="1100">
                <a:solidFill>
                  <a:schemeClr val="dk1"/>
                </a:solidFill>
              </a:rPr>
              <a:t>World Bank (GDP)</a:t>
            </a:r>
            <a:r>
              <a:rPr lang="ko" sz="11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  <a:latin typeface="Dancing Script SemiBold"/>
              <a:ea typeface="Dancing Script SemiBold"/>
              <a:cs typeface="Dancing Script SemiBold"/>
              <a:sym typeface="Dancing Script SemiBold"/>
            </a:endParaRPr>
          </a:p>
        </p:txBody>
      </p:sp>
      <p:sp>
        <p:nvSpPr>
          <p:cNvPr id="182" name="Google Shape;182;p34"/>
          <p:cNvSpPr txBox="1"/>
          <p:nvPr/>
        </p:nvSpPr>
        <p:spPr>
          <a:xfrm>
            <a:off x="855435" y="3921234"/>
            <a:ext cx="3456900" cy="10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출처</a:t>
            </a:r>
            <a:r>
              <a:rPr lang="ko" sz="1100">
                <a:solidFill>
                  <a:schemeClr val="dk1"/>
                </a:solidFill>
              </a:rPr>
              <a:t>: World Population Review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분석 연도</a:t>
            </a:r>
            <a:r>
              <a:rPr lang="ko" sz="1100">
                <a:solidFill>
                  <a:schemeClr val="dk1"/>
                </a:solidFill>
              </a:rPr>
              <a:t>: 2024년 (단일 연도 데이터)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ko" sz="1100">
                <a:solidFill>
                  <a:schemeClr val="dk1"/>
                </a:solidFill>
              </a:rPr>
              <a:t>주요 변수</a:t>
            </a:r>
            <a:r>
              <a:rPr lang="ko" sz="1100">
                <a:solidFill>
                  <a:schemeClr val="dk1"/>
                </a:solidFill>
              </a:rPr>
              <a:t>: </a:t>
            </a: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avg_sleeping_hours</a:t>
            </a:r>
            <a:r>
              <a:rPr lang="ko" sz="1100">
                <a:solidFill>
                  <a:schemeClr val="dk1"/>
                </a:solidFill>
              </a:rPr>
              <a:t> (국가별 평균 수면 시간, 단위: 시간)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ko" sz="1100">
                <a:solidFill>
                  <a:schemeClr val="dk1"/>
                </a:solidFill>
              </a:rPr>
              <a:t>특이사항</a:t>
            </a:r>
            <a:r>
              <a:rPr lang="ko" sz="1100">
                <a:solidFill>
                  <a:schemeClr val="dk1"/>
                </a:solidFill>
              </a:rPr>
              <a:t>: 데이터 양이 절대적으로 적음(약 60여개의 국가 기준 데이터)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3" name="Google Shape;183;p34"/>
          <p:cNvSpPr/>
          <p:nvPr/>
        </p:nvSpPr>
        <p:spPr>
          <a:xfrm>
            <a:off x="854648" y="3699182"/>
            <a:ext cx="3449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평균 수면 시간 (Average Sleeping Hours)</a:t>
            </a:r>
            <a:r>
              <a:rPr lang="ko" sz="11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  <a:latin typeface="Dancing Script SemiBold"/>
              <a:ea typeface="Dancing Script SemiBold"/>
              <a:cs typeface="Dancing Script SemiBold"/>
              <a:sym typeface="Dancing Script SemiBold"/>
            </a:endParaRPr>
          </a:p>
        </p:txBody>
      </p:sp>
      <p:pic>
        <p:nvPicPr>
          <p:cNvPr id="184" name="Google Shape;184;p34" title="gdp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9253" y="1652014"/>
            <a:ext cx="3868148" cy="2442836"/>
          </a:xfrm>
          <a:prstGeom prst="rect">
            <a:avLst/>
          </a:prstGeom>
          <a:noFill/>
          <a:ln>
            <a:noFill/>
          </a:ln>
          <a:effectLst>
            <a:outerShdw blurRad="68431" rotWithShape="0" algn="bl" dir="5400000" dist="22810">
              <a:srgbClr val="000000">
                <a:alpha val="50000"/>
              </a:srgbClr>
            </a:outerShdw>
          </a:effectLst>
        </p:spPr>
      </p:pic>
      <p:pic>
        <p:nvPicPr>
          <p:cNvPr id="185" name="Google Shape;185;p34" title="sleep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1402" y="1421375"/>
            <a:ext cx="2064696" cy="1445691"/>
          </a:xfrm>
          <a:prstGeom prst="rect">
            <a:avLst/>
          </a:prstGeom>
          <a:noFill/>
          <a:ln>
            <a:noFill/>
          </a:ln>
          <a:effectLst>
            <a:outerShdw blurRad="68431" rotWithShape="0" algn="bl" dir="5400000" dist="22810">
              <a:srgbClr val="000000">
                <a:alpha val="50000"/>
              </a:srgbClr>
            </a:outerShdw>
          </a:effectLst>
        </p:spPr>
      </p:pic>
      <p:pic>
        <p:nvPicPr>
          <p:cNvPr id="186" name="Google Shape;186;p34" title="happiness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92950" y="2678973"/>
            <a:ext cx="1170006" cy="780004"/>
          </a:xfrm>
          <a:prstGeom prst="rect">
            <a:avLst/>
          </a:prstGeom>
          <a:noFill/>
          <a:ln>
            <a:noFill/>
          </a:ln>
          <a:effectLst>
            <a:outerShdw blurRad="68431" rotWithShape="0" algn="bl" dir="5400000" dist="2281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5"/>
          <p:cNvSpPr txBox="1"/>
          <p:nvPr/>
        </p:nvSpPr>
        <p:spPr>
          <a:xfrm>
            <a:off x="2634306" y="1511740"/>
            <a:ext cx="38754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3600">
                <a:solidFill>
                  <a:schemeClr val="dk1"/>
                </a:solidFill>
                <a:latin typeface="Dancing Script SemiBold"/>
                <a:ea typeface="Dancing Script SemiBold"/>
                <a:cs typeface="Dancing Script SemiBold"/>
                <a:sym typeface="Dancing Script SemiBold"/>
              </a:rPr>
              <a:t>Body</a:t>
            </a:r>
            <a:endParaRPr sz="1100"/>
          </a:p>
        </p:txBody>
      </p:sp>
      <p:sp>
        <p:nvSpPr>
          <p:cNvPr id="192" name="Google Shape;192;p35"/>
          <p:cNvSpPr txBox="1"/>
          <p:nvPr/>
        </p:nvSpPr>
        <p:spPr>
          <a:xfrm>
            <a:off x="3816675" y="2639050"/>
            <a:ext cx="16137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ko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전처리 과정 1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Light"/>
              <a:buChar char="▪"/>
            </a:pPr>
            <a:r>
              <a:rPr lang="ko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전처리 과정 2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Light"/>
              <a:buChar char="▪"/>
            </a:pPr>
            <a:r>
              <a:rPr lang="ko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데이터 분석 1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Light"/>
              <a:buChar char="▪"/>
            </a:pPr>
            <a:r>
              <a:rPr lang="ko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데이터 분석 2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Light"/>
              <a:buChar char="▪"/>
            </a:pPr>
            <a:r>
              <a:rPr lang="ko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시각화 자료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6"/>
          <p:cNvSpPr txBox="1"/>
          <p:nvPr/>
        </p:nvSpPr>
        <p:spPr>
          <a:xfrm>
            <a:off x="2168501" y="595804"/>
            <a:ext cx="48069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>
                <a:solidFill>
                  <a:schemeClr val="dk1"/>
                </a:solidFill>
                <a:latin typeface="Dancing Script SemiBold"/>
                <a:ea typeface="Dancing Script SemiBold"/>
                <a:cs typeface="Dancing Script SemiBold"/>
                <a:sym typeface="Dancing Script SemiBold"/>
              </a:rPr>
              <a:t>전처리 과정 1 : 데이터 통합 및 정제</a:t>
            </a:r>
            <a:endParaRPr sz="2100">
              <a:solidFill>
                <a:schemeClr val="dk1"/>
              </a:solidFill>
              <a:latin typeface="Dancing Script SemiBold"/>
              <a:ea typeface="Dancing Script SemiBold"/>
              <a:cs typeface="Dancing Script SemiBold"/>
              <a:sym typeface="Dancing Script SemiBold"/>
            </a:endParaRPr>
          </a:p>
        </p:txBody>
      </p:sp>
      <p:pic>
        <p:nvPicPr>
          <p:cNvPr id="198" name="Google Shape;19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5897" y="1301300"/>
            <a:ext cx="3647825" cy="288285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sp>
        <p:nvSpPr>
          <p:cNvPr id="199" name="Google Shape;199;p36"/>
          <p:cNvSpPr txBox="1"/>
          <p:nvPr/>
        </p:nvSpPr>
        <p:spPr>
          <a:xfrm>
            <a:off x="4794497" y="2716150"/>
            <a:ext cx="26298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다양한 데이터 셋, 다양한 국가 이름</a:t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 Light"/>
              <a:buChar char="➔"/>
            </a:pPr>
            <a:r>
              <a:rPr lang="ko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하나의 이름으로 통일</a:t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00" name="Google Shape;200;p36"/>
          <p:cNvSpPr/>
          <p:nvPr/>
        </p:nvSpPr>
        <p:spPr>
          <a:xfrm>
            <a:off x="4798250" y="2192089"/>
            <a:ext cx="3449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latin typeface="Dancing Script SemiBold"/>
                <a:ea typeface="Dancing Script SemiBold"/>
                <a:cs typeface="Dancing Script SemiBold"/>
                <a:sym typeface="Dancing Script SemiBold"/>
              </a:rPr>
              <a:t>국가 이름 </a:t>
            </a:r>
            <a:r>
              <a:rPr lang="ko" sz="1500">
                <a:solidFill>
                  <a:schemeClr val="dk1"/>
                </a:solidFill>
                <a:latin typeface="Dancing Script SemiBold"/>
                <a:ea typeface="Dancing Script SemiBold"/>
                <a:cs typeface="Dancing Script SemiBold"/>
                <a:sym typeface="Dancing Script SemiBold"/>
              </a:rPr>
              <a:t>표준화</a:t>
            </a:r>
            <a:endParaRPr sz="1500">
              <a:solidFill>
                <a:schemeClr val="dk1"/>
              </a:solidFill>
              <a:latin typeface="Dancing Script SemiBold"/>
              <a:ea typeface="Dancing Script SemiBold"/>
              <a:cs typeface="Dancing Script SemiBold"/>
              <a:sym typeface="Dancing Script SemiBold"/>
            </a:endParaRPr>
          </a:p>
        </p:txBody>
      </p:sp>
      <p:pic>
        <p:nvPicPr>
          <p:cNvPr id="201" name="Google Shape;201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5900" y="4184150"/>
            <a:ext cx="45243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7"/>
          <p:cNvSpPr txBox="1"/>
          <p:nvPr/>
        </p:nvSpPr>
        <p:spPr>
          <a:xfrm>
            <a:off x="2168501" y="595804"/>
            <a:ext cx="48069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>
                <a:solidFill>
                  <a:schemeClr val="dk1"/>
                </a:solidFill>
                <a:latin typeface="Dancing Script SemiBold"/>
                <a:ea typeface="Dancing Script SemiBold"/>
                <a:cs typeface="Dancing Script SemiBold"/>
                <a:sym typeface="Dancing Script SemiBold"/>
              </a:rPr>
              <a:t>전처리 과정 1 : 데이터 통합 및 정제</a:t>
            </a:r>
            <a:endParaRPr sz="2100">
              <a:solidFill>
                <a:schemeClr val="dk1"/>
              </a:solidFill>
              <a:latin typeface="Dancing Script SemiBold"/>
              <a:ea typeface="Dancing Script SemiBold"/>
              <a:cs typeface="Dancing Script SemiBold"/>
              <a:sym typeface="Dancing Script SemiBold"/>
            </a:endParaRPr>
          </a:p>
        </p:txBody>
      </p:sp>
      <p:sp>
        <p:nvSpPr>
          <p:cNvPr id="207" name="Google Shape;207;p37"/>
          <p:cNvSpPr txBox="1"/>
          <p:nvPr/>
        </p:nvSpPr>
        <p:spPr>
          <a:xfrm>
            <a:off x="5849050" y="1849875"/>
            <a:ext cx="2698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다양한 데이터 </a:t>
            </a:r>
            <a:r>
              <a:rPr lang="ko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세트</a:t>
            </a:r>
            <a:r>
              <a:rPr lang="ko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, </a:t>
            </a:r>
            <a:r>
              <a:rPr lang="ko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서로 다른 컬럼 이름</a:t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 Light"/>
              <a:buChar char="➔"/>
            </a:pPr>
            <a:r>
              <a:rPr lang="ko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하나의 이름으로 통일</a:t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08" name="Google Shape;208;p37"/>
          <p:cNvSpPr/>
          <p:nvPr/>
        </p:nvSpPr>
        <p:spPr>
          <a:xfrm>
            <a:off x="6433913" y="1325813"/>
            <a:ext cx="13437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latin typeface="Dancing Script SemiBold"/>
                <a:ea typeface="Dancing Script SemiBold"/>
                <a:cs typeface="Dancing Script SemiBold"/>
                <a:sym typeface="Dancing Script SemiBold"/>
              </a:rPr>
              <a:t>컬럼명 표준화</a:t>
            </a:r>
            <a:endParaRPr sz="1500">
              <a:solidFill>
                <a:schemeClr val="dk1"/>
              </a:solidFill>
              <a:latin typeface="Dancing Script SemiBold"/>
              <a:ea typeface="Dancing Script SemiBold"/>
              <a:cs typeface="Dancing Script SemiBold"/>
              <a:sym typeface="Dancing Script SemiBold"/>
            </a:endParaRPr>
          </a:p>
        </p:txBody>
      </p:sp>
      <p:pic>
        <p:nvPicPr>
          <p:cNvPr id="209" name="Google Shape;20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4373" y="1440400"/>
            <a:ext cx="3161511" cy="446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4363" y="1965924"/>
            <a:ext cx="4970050" cy="184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4375" y="2315100"/>
            <a:ext cx="4921251" cy="237892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7"/>
          <p:cNvSpPr txBox="1"/>
          <p:nvPr/>
        </p:nvSpPr>
        <p:spPr>
          <a:xfrm>
            <a:off x="5939137" y="3663400"/>
            <a:ext cx="25134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5개의 WHR 데이터 세트</a:t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 Light"/>
              <a:buChar char="➔"/>
            </a:pPr>
            <a:r>
              <a:rPr lang="ko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하나의 </a:t>
            </a:r>
            <a:r>
              <a:rPr lang="ko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테이블로 통합</a:t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13" name="Google Shape;213;p37"/>
          <p:cNvSpPr/>
          <p:nvPr/>
        </p:nvSpPr>
        <p:spPr>
          <a:xfrm>
            <a:off x="6523988" y="3139350"/>
            <a:ext cx="13437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latin typeface="Dancing Script SemiBold"/>
                <a:ea typeface="Dancing Script SemiBold"/>
                <a:cs typeface="Dancing Script SemiBold"/>
                <a:sym typeface="Dancing Script SemiBold"/>
              </a:rPr>
              <a:t>데이터 병합</a:t>
            </a:r>
            <a:endParaRPr sz="1500">
              <a:solidFill>
                <a:schemeClr val="dk1"/>
              </a:solidFill>
              <a:latin typeface="Dancing Script SemiBold"/>
              <a:ea typeface="Dancing Script SemiBold"/>
              <a:cs typeface="Dancing Script SemiBold"/>
              <a:sym typeface="Dancing Script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8"/>
          <p:cNvSpPr txBox="1"/>
          <p:nvPr/>
        </p:nvSpPr>
        <p:spPr>
          <a:xfrm>
            <a:off x="2168501" y="595804"/>
            <a:ext cx="48069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>
                <a:solidFill>
                  <a:schemeClr val="dk1"/>
                </a:solidFill>
                <a:latin typeface="Dancing Script SemiBold"/>
                <a:ea typeface="Dancing Script SemiBold"/>
                <a:cs typeface="Dancing Script SemiBold"/>
                <a:sym typeface="Dancing Script SemiBold"/>
              </a:rPr>
              <a:t>전처리 과정 1 : 데이터 통합 및 정제</a:t>
            </a:r>
            <a:endParaRPr sz="2100">
              <a:solidFill>
                <a:schemeClr val="dk1"/>
              </a:solidFill>
              <a:latin typeface="Dancing Script SemiBold"/>
              <a:ea typeface="Dancing Script SemiBold"/>
              <a:cs typeface="Dancing Script SemiBold"/>
              <a:sym typeface="Dancing Script SemiBold"/>
            </a:endParaRPr>
          </a:p>
        </p:txBody>
      </p:sp>
      <p:sp>
        <p:nvSpPr>
          <p:cNvPr id="219" name="Google Shape;219;p38"/>
          <p:cNvSpPr txBox="1"/>
          <p:nvPr/>
        </p:nvSpPr>
        <p:spPr>
          <a:xfrm>
            <a:off x="6018300" y="1862600"/>
            <a:ext cx="2513400" cy="10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 Light"/>
              <a:buChar char="➔"/>
            </a:pPr>
            <a:r>
              <a:rPr lang="ko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선형 보간법 (Linear interpolation)을 이용해 NaN 값 채우기.</a:t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 Light"/>
              <a:buChar char="➔"/>
            </a:pPr>
            <a:r>
              <a:rPr lang="ko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limit_direction=’both’ 옵션을 이용해 앞/뒤 모두에서 유효 값을 찾아 NaN 값 채우기</a:t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20" name="Google Shape;220;p38"/>
          <p:cNvSpPr/>
          <p:nvPr/>
        </p:nvSpPr>
        <p:spPr>
          <a:xfrm>
            <a:off x="6603163" y="1338563"/>
            <a:ext cx="15867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latin typeface="Dancing Script SemiBold"/>
                <a:ea typeface="Dancing Script SemiBold"/>
                <a:cs typeface="Dancing Script SemiBold"/>
                <a:sym typeface="Dancing Script SemiBold"/>
              </a:rPr>
              <a:t>결측치(NaN) 처리</a:t>
            </a:r>
            <a:endParaRPr sz="1500">
              <a:solidFill>
                <a:schemeClr val="dk1"/>
              </a:solidFill>
              <a:latin typeface="Dancing Script SemiBold"/>
              <a:ea typeface="Dancing Script SemiBold"/>
              <a:cs typeface="Dancing Script SemiBold"/>
              <a:sym typeface="Dancing Script SemiBold"/>
            </a:endParaRPr>
          </a:p>
        </p:txBody>
      </p:sp>
      <p:pic>
        <p:nvPicPr>
          <p:cNvPr id="221" name="Google Shape;22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296" y="1524276"/>
            <a:ext cx="4608231" cy="14441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311" y="3462360"/>
            <a:ext cx="5395200" cy="843761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8"/>
          <p:cNvSpPr txBox="1"/>
          <p:nvPr/>
        </p:nvSpPr>
        <p:spPr>
          <a:xfrm>
            <a:off x="6018300" y="3832350"/>
            <a:ext cx="25134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 Light"/>
              <a:buChar char="➔"/>
            </a:pPr>
            <a:r>
              <a:rPr lang="ko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행복지수는 NaN 값을 찾고, 앞/뒤 값 중 넣기</a:t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24" name="Google Shape;224;p38"/>
          <p:cNvSpPr/>
          <p:nvPr/>
        </p:nvSpPr>
        <p:spPr>
          <a:xfrm>
            <a:off x="6603163" y="3308313"/>
            <a:ext cx="15867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latin typeface="Dancing Script SemiBold"/>
                <a:ea typeface="Dancing Script SemiBold"/>
                <a:cs typeface="Dancing Script SemiBold"/>
                <a:sym typeface="Dancing Script SemiBold"/>
              </a:rPr>
              <a:t>결측치(NaN) 처리</a:t>
            </a:r>
            <a:endParaRPr sz="1500">
              <a:solidFill>
                <a:schemeClr val="dk1"/>
              </a:solidFill>
              <a:latin typeface="Dancing Script SemiBold"/>
              <a:ea typeface="Dancing Script SemiBold"/>
              <a:cs typeface="Dancing Script SemiBold"/>
              <a:sym typeface="Dancing Script Semi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9"/>
          <p:cNvSpPr txBox="1"/>
          <p:nvPr/>
        </p:nvSpPr>
        <p:spPr>
          <a:xfrm>
            <a:off x="2168501" y="595804"/>
            <a:ext cx="48069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>
                <a:solidFill>
                  <a:schemeClr val="dk1"/>
                </a:solidFill>
                <a:latin typeface="Dancing Script SemiBold"/>
                <a:ea typeface="Dancing Script SemiBold"/>
                <a:cs typeface="Dancing Script SemiBold"/>
                <a:sym typeface="Dancing Script SemiBold"/>
              </a:rPr>
              <a:t>전처리 과정 2 : </a:t>
            </a:r>
            <a:r>
              <a:rPr lang="ko" sz="2100">
                <a:solidFill>
                  <a:schemeClr val="dk1"/>
                </a:solidFill>
                <a:latin typeface="Dancing Script SemiBold"/>
                <a:ea typeface="Dancing Script SemiBold"/>
                <a:cs typeface="Dancing Script SemiBold"/>
                <a:sym typeface="Dancing Script SemiBold"/>
              </a:rPr>
              <a:t>데이터프레임 구조화</a:t>
            </a:r>
            <a:endParaRPr sz="2100">
              <a:solidFill>
                <a:schemeClr val="dk1"/>
              </a:solidFill>
              <a:latin typeface="Dancing Script SemiBold"/>
              <a:ea typeface="Dancing Script SemiBold"/>
              <a:cs typeface="Dancing Script SemiBold"/>
              <a:sym typeface="Dancing Script SemiBold"/>
            </a:endParaRPr>
          </a:p>
        </p:txBody>
      </p:sp>
      <p:sp>
        <p:nvSpPr>
          <p:cNvPr id="230" name="Google Shape;230;p39"/>
          <p:cNvSpPr txBox="1"/>
          <p:nvPr/>
        </p:nvSpPr>
        <p:spPr>
          <a:xfrm>
            <a:off x="6018300" y="1657857"/>
            <a:ext cx="25134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 Light"/>
              <a:buChar char="➔"/>
            </a:pPr>
            <a:r>
              <a:rPr lang="ko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분석을 위해 GDP 데이터에 성장률 변수 추가. </a:t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 Light"/>
              <a:buChar char="➔"/>
            </a:pPr>
            <a:r>
              <a:rPr lang="ko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첫 해에는 성장률이 따로 존재하지 않으므로 NaN 값을 0으로 고정</a:t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31" name="Google Shape;231;p39"/>
          <p:cNvSpPr/>
          <p:nvPr/>
        </p:nvSpPr>
        <p:spPr>
          <a:xfrm>
            <a:off x="6603163" y="1133819"/>
            <a:ext cx="15867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latin typeface="Dancing Script SemiBold"/>
                <a:ea typeface="Dancing Script SemiBold"/>
                <a:cs typeface="Dancing Script SemiBold"/>
                <a:sym typeface="Dancing Script SemiBold"/>
              </a:rPr>
              <a:t>핵심 변수 생성</a:t>
            </a:r>
            <a:endParaRPr sz="1500">
              <a:solidFill>
                <a:schemeClr val="dk1"/>
              </a:solidFill>
              <a:latin typeface="Dancing Script SemiBold"/>
              <a:ea typeface="Dancing Script SemiBold"/>
              <a:cs typeface="Dancing Script SemiBold"/>
              <a:sym typeface="Dancing Script SemiBold"/>
            </a:endParaRPr>
          </a:p>
        </p:txBody>
      </p:sp>
      <p:sp>
        <p:nvSpPr>
          <p:cNvPr id="232" name="Google Shape;232;p39"/>
          <p:cNvSpPr txBox="1"/>
          <p:nvPr/>
        </p:nvSpPr>
        <p:spPr>
          <a:xfrm>
            <a:off x="6033900" y="3673547"/>
            <a:ext cx="25134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 Light"/>
              <a:buChar char="➔"/>
            </a:pPr>
            <a:r>
              <a:rPr lang="ko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통일한 컬럼명을 가지고 최종 병합을 실행</a:t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 Light"/>
              <a:buChar char="➔"/>
            </a:pPr>
            <a:r>
              <a:rPr lang="ko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최종 데이터 프레임은 GDP, 행복 지수, 수면시간을 모두 포함하고 있음</a:t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33" name="Google Shape;233;p39"/>
          <p:cNvSpPr/>
          <p:nvPr/>
        </p:nvSpPr>
        <p:spPr>
          <a:xfrm>
            <a:off x="6618763" y="3149509"/>
            <a:ext cx="15867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latin typeface="Dancing Script SemiBold"/>
                <a:ea typeface="Dancing Script SemiBold"/>
                <a:cs typeface="Dancing Script SemiBold"/>
                <a:sym typeface="Dancing Script SemiBold"/>
              </a:rPr>
              <a:t>최종 데이터 병합</a:t>
            </a:r>
            <a:endParaRPr sz="1500">
              <a:solidFill>
                <a:schemeClr val="dk1"/>
              </a:solidFill>
              <a:latin typeface="Dancing Script SemiBold"/>
              <a:ea typeface="Dancing Script SemiBold"/>
              <a:cs typeface="Dancing Script SemiBold"/>
              <a:sym typeface="Dancing Script SemiBold"/>
            </a:endParaRPr>
          </a:p>
        </p:txBody>
      </p:sp>
      <p:pic>
        <p:nvPicPr>
          <p:cNvPr id="234" name="Google Shape;23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914" y="1439600"/>
            <a:ext cx="5595993" cy="304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488" y="2897136"/>
            <a:ext cx="5611603" cy="179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4488" y="3222436"/>
            <a:ext cx="4788481" cy="194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2300" y="3563054"/>
            <a:ext cx="5611599" cy="1391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0"/>
          <p:cNvSpPr txBox="1"/>
          <p:nvPr/>
        </p:nvSpPr>
        <p:spPr>
          <a:xfrm>
            <a:off x="2636376" y="603977"/>
            <a:ext cx="48069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>
                <a:solidFill>
                  <a:schemeClr val="dk1"/>
                </a:solidFill>
                <a:latin typeface="Dancing Script SemiBold"/>
                <a:ea typeface="Dancing Script SemiBold"/>
                <a:cs typeface="Dancing Script SemiBold"/>
                <a:sym typeface="Dancing Script SemiBold"/>
              </a:rPr>
              <a:t>상관 관계란?</a:t>
            </a:r>
            <a:endParaRPr sz="2100">
              <a:solidFill>
                <a:schemeClr val="dk1"/>
              </a:solidFill>
              <a:latin typeface="Dancing Script SemiBold"/>
              <a:ea typeface="Dancing Script SemiBold"/>
              <a:cs typeface="Dancing Script SemiBold"/>
              <a:sym typeface="Dancing Script SemiBold"/>
            </a:endParaRPr>
          </a:p>
        </p:txBody>
      </p:sp>
      <p:sp>
        <p:nvSpPr>
          <p:cNvPr id="243" name="Google Shape;243;p40"/>
          <p:cNvSpPr txBox="1"/>
          <p:nvPr/>
        </p:nvSpPr>
        <p:spPr>
          <a:xfrm>
            <a:off x="5578986" y="1726593"/>
            <a:ext cx="26268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두 변수가 서로 어떤 관계를 가지며 변화하는지를 나타내는 지표</a:t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44" name="Google Shape;244;p40" title="correl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8224" y="1344637"/>
            <a:ext cx="4027149" cy="31948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5" name="Google Shape;245;p40"/>
          <p:cNvSpPr txBox="1"/>
          <p:nvPr/>
        </p:nvSpPr>
        <p:spPr>
          <a:xfrm>
            <a:off x="5578986" y="2294827"/>
            <a:ext cx="2626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방향과 강도로 설명함</a:t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46" name="Google Shape;246;p40"/>
          <p:cNvSpPr txBox="1"/>
          <p:nvPr/>
        </p:nvSpPr>
        <p:spPr>
          <a:xfrm>
            <a:off x="5578986" y="2778093"/>
            <a:ext cx="2626800" cy="12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-1 ~ +1 사이에 존재하고</a:t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 Light"/>
              <a:buChar char="●"/>
            </a:pPr>
            <a:r>
              <a:rPr lang="ko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+1에 가까울수록, 두 변수는 같이 증가</a:t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 Light"/>
              <a:buChar char="●"/>
            </a:pPr>
            <a:r>
              <a:rPr lang="ko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-1에 가까울수록, 한 변수가 증가하면 다른 변수는 감수</a:t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 Light"/>
              <a:buChar char="●"/>
            </a:pPr>
            <a:r>
              <a:rPr lang="ko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0에 가까울수록 관계성이 없음</a:t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1"/>
          <p:cNvSpPr txBox="1"/>
          <p:nvPr/>
        </p:nvSpPr>
        <p:spPr>
          <a:xfrm>
            <a:off x="1381621" y="989750"/>
            <a:ext cx="63807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>
                <a:solidFill>
                  <a:schemeClr val="dk1"/>
                </a:solidFill>
                <a:latin typeface="Dancing Script SemiBold"/>
                <a:ea typeface="Dancing Script SemiBold"/>
                <a:cs typeface="Dancing Script SemiBold"/>
                <a:sym typeface="Dancing Script SemiBold"/>
              </a:rPr>
              <a:t>데이터 분석 1: </a:t>
            </a:r>
            <a:endParaRPr sz="2400">
              <a:solidFill>
                <a:schemeClr val="dk1"/>
              </a:solidFill>
              <a:latin typeface="Dancing Script SemiBold"/>
              <a:ea typeface="Dancing Script SemiBold"/>
              <a:cs typeface="Dancing Script SemiBold"/>
              <a:sym typeface="Dancing Script SemiBol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>
                <a:solidFill>
                  <a:schemeClr val="dk1"/>
                </a:solidFill>
                <a:latin typeface="Dancing Script SemiBold"/>
                <a:ea typeface="Dancing Script SemiBold"/>
                <a:cs typeface="Dancing Script SemiBold"/>
                <a:sym typeface="Dancing Script SemiBold"/>
              </a:rPr>
              <a:t>경제적 풍요가 행복에 미치는 영향?</a:t>
            </a:r>
            <a:endParaRPr sz="2100">
              <a:solidFill>
                <a:schemeClr val="dk1"/>
              </a:solidFill>
              <a:latin typeface="Dancing Script SemiBold"/>
              <a:ea typeface="Dancing Script SemiBold"/>
              <a:cs typeface="Dancing Script SemiBold"/>
              <a:sym typeface="Dancing Script SemiBold"/>
            </a:endParaRPr>
          </a:p>
        </p:txBody>
      </p:sp>
      <p:pic>
        <p:nvPicPr>
          <p:cNvPr id="252" name="Google Shape;25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8463" y="2329175"/>
            <a:ext cx="3181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8463" y="2659625"/>
            <a:ext cx="31623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58438" y="3021978"/>
            <a:ext cx="31051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63836" y="3384313"/>
            <a:ext cx="31337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4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67977" y="3727613"/>
            <a:ext cx="31432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41"/>
          <p:cNvSpPr txBox="1"/>
          <p:nvPr/>
        </p:nvSpPr>
        <p:spPr>
          <a:xfrm>
            <a:off x="5358773" y="2329168"/>
            <a:ext cx="26268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1인당 GDP와 행복 지수의 상관 관계를 살펴보면:</a:t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58" name="Google Shape;258;p41"/>
          <p:cNvSpPr txBox="1"/>
          <p:nvPr/>
        </p:nvSpPr>
        <p:spPr>
          <a:xfrm>
            <a:off x="5358773" y="3068143"/>
            <a:ext cx="26268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양수이고 +1에 가까우므로 강한 양의 상관관계를 가지고 있음</a:t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 Light"/>
              <a:buChar char="●"/>
            </a:pPr>
            <a:r>
              <a:rPr lang="ko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개인의 경제적 풍요도는 행복과 강한 연관성을 가지고 있다. </a:t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2"/>
          <p:cNvSpPr txBox="1"/>
          <p:nvPr/>
        </p:nvSpPr>
        <p:spPr>
          <a:xfrm>
            <a:off x="1381621" y="989750"/>
            <a:ext cx="63807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" sz="2400">
                <a:solidFill>
                  <a:schemeClr val="dk1"/>
                </a:solidFill>
                <a:latin typeface="Dancing Script SemiBold"/>
                <a:ea typeface="Dancing Script SemiBold"/>
                <a:cs typeface="Dancing Script SemiBold"/>
                <a:sym typeface="Dancing Script SemiBold"/>
              </a:rPr>
              <a:t>데이터 분석 2: </a:t>
            </a:r>
            <a:endParaRPr sz="2400">
              <a:solidFill>
                <a:schemeClr val="dk1"/>
              </a:solidFill>
              <a:latin typeface="Dancing Script SemiBold"/>
              <a:ea typeface="Dancing Script SemiBold"/>
              <a:cs typeface="Dancing Script SemiBold"/>
              <a:sym typeface="Dancing Scrip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>
                <a:solidFill>
                  <a:schemeClr val="dk1"/>
                </a:solidFill>
                <a:latin typeface="Dancing Script SemiBold"/>
                <a:ea typeface="Dancing Script SemiBold"/>
                <a:cs typeface="Dancing Script SemiBold"/>
                <a:sym typeface="Dancing Script SemiBold"/>
              </a:rPr>
              <a:t>행복의 또 다른 요인, 수면 시간과의 관계</a:t>
            </a:r>
            <a:endParaRPr sz="2400">
              <a:solidFill>
                <a:schemeClr val="dk1"/>
              </a:solidFill>
              <a:latin typeface="Dancing Script SemiBold"/>
              <a:ea typeface="Dancing Script SemiBold"/>
              <a:cs typeface="Dancing Script SemiBold"/>
              <a:sym typeface="Dancing Script SemiBold"/>
            </a:endParaRPr>
          </a:p>
        </p:txBody>
      </p:sp>
      <p:pic>
        <p:nvPicPr>
          <p:cNvPr id="264" name="Google Shape;26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1700" y="2752350"/>
            <a:ext cx="31623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42"/>
          <p:cNvSpPr txBox="1"/>
          <p:nvPr/>
        </p:nvSpPr>
        <p:spPr>
          <a:xfrm>
            <a:off x="5235036" y="2245618"/>
            <a:ext cx="26268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수면 시간과</a:t>
            </a:r>
            <a:r>
              <a:rPr lang="ko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행복 지수의 상관 관계를 살펴보면:</a:t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66" name="Google Shape;266;p42"/>
          <p:cNvSpPr txBox="1"/>
          <p:nvPr/>
        </p:nvSpPr>
        <p:spPr>
          <a:xfrm>
            <a:off x="5235036" y="2984593"/>
            <a:ext cx="2626800" cy="12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양수이고 +1에 가까우므로 강한 양의 상관관계를 가지고 있음</a:t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 Light"/>
              <a:buChar char="●"/>
            </a:pPr>
            <a:r>
              <a:rPr lang="ko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수면 시간은</a:t>
            </a:r>
            <a:r>
              <a:rPr lang="ko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행복과 강한 연관성을 가지고 있다.</a:t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 Light"/>
              <a:buChar char="●"/>
            </a:pPr>
            <a:r>
              <a:rPr lang="ko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하지만 경제적 풍요보다는 작은 연관성을 가지고 있다.</a:t>
            </a:r>
            <a:r>
              <a:rPr lang="ko" sz="11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endParaRPr sz="1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67" name="Google Shape;26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2300" y="2421900"/>
            <a:ext cx="31432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92313" y="2757918"/>
            <a:ext cx="31813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82163" y="3132875"/>
            <a:ext cx="31242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4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88413" y="3431658"/>
            <a:ext cx="3111691" cy="272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4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82163" y="3794338"/>
            <a:ext cx="2580304" cy="265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3"/>
          <p:cNvSpPr txBox="1"/>
          <p:nvPr/>
        </p:nvSpPr>
        <p:spPr>
          <a:xfrm>
            <a:off x="809679" y="2879815"/>
            <a:ext cx="3270000" cy="22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GDP 성장률과 행복 지수 상관관계</a:t>
            </a:r>
            <a:r>
              <a:rPr lang="ko" sz="1000">
                <a:solidFill>
                  <a:schemeClr val="dk1"/>
                </a:solidFill>
              </a:rPr>
              <a:t>: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>
                <a:solidFill>
                  <a:schemeClr val="dk1"/>
                </a:solidFill>
              </a:rPr>
              <a:t>연도별 상관관계를 분석한 결과, 국가의 </a:t>
            </a:r>
            <a:r>
              <a:rPr lang="ko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GDP 성장률</a:t>
            </a:r>
            <a:r>
              <a:rPr lang="ko" sz="1000">
                <a:solidFill>
                  <a:schemeClr val="dk1"/>
                </a:solidFill>
              </a:rPr>
              <a:t>과 </a:t>
            </a:r>
            <a:r>
              <a:rPr lang="ko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행복 지수</a:t>
            </a:r>
            <a:r>
              <a:rPr lang="ko" sz="1000">
                <a:solidFill>
                  <a:schemeClr val="dk1"/>
                </a:solidFill>
              </a:rPr>
              <a:t>의 상관관계는 </a:t>
            </a:r>
            <a:r>
              <a:rPr lang="ko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2021년</a:t>
            </a:r>
            <a:r>
              <a:rPr lang="ko" sz="1000">
                <a:solidFill>
                  <a:schemeClr val="dk1"/>
                </a:solidFill>
              </a:rPr>
              <a:t>에 </a:t>
            </a:r>
            <a:r>
              <a:rPr b="1" lang="ko" sz="1000">
                <a:solidFill>
                  <a:schemeClr val="dk1"/>
                </a:solidFill>
              </a:rPr>
              <a:t>0.38</a:t>
            </a:r>
            <a:r>
              <a:rPr lang="ko" sz="1000">
                <a:solidFill>
                  <a:schemeClr val="dk1"/>
                </a:solidFill>
              </a:rPr>
              <a:t>로 비교적 높았지만, </a:t>
            </a:r>
            <a:r>
              <a:rPr lang="ko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2022년</a:t>
            </a:r>
            <a:r>
              <a:rPr lang="ko" sz="1000">
                <a:solidFill>
                  <a:schemeClr val="dk1"/>
                </a:solidFill>
              </a:rPr>
              <a:t> 이후에는 </a:t>
            </a:r>
            <a:r>
              <a:rPr b="1" lang="ko" sz="1000">
                <a:solidFill>
                  <a:schemeClr val="dk1"/>
                </a:solidFill>
              </a:rPr>
              <a:t>-0.02</a:t>
            </a:r>
            <a:r>
              <a:rPr lang="ko" sz="1000">
                <a:solidFill>
                  <a:schemeClr val="dk1"/>
                </a:solidFill>
              </a:rPr>
              <a:t> 수준으로 급격히 낮아지는 경향을 보였습니다.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>
                <a:solidFill>
                  <a:schemeClr val="dk1"/>
                </a:solidFill>
              </a:rPr>
              <a:t>이는 행복이 경제의 '성장률'이라는 변화율보다는, 이미 달성된 '경제적 수준'에 더 영향을 받을 수 있음을 시사합니다.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77" name="Google Shape;277;p43"/>
          <p:cNvSpPr txBox="1"/>
          <p:nvPr/>
        </p:nvSpPr>
        <p:spPr>
          <a:xfrm>
            <a:off x="902375" y="1501875"/>
            <a:ext cx="1736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>
                <a:solidFill>
                  <a:schemeClr val="dk1"/>
                </a:solidFill>
                <a:latin typeface="Dancing Script SemiBold"/>
                <a:ea typeface="Dancing Script SemiBold"/>
                <a:cs typeface="Dancing Script SemiBold"/>
                <a:sym typeface="Dancing Script SemiBold"/>
              </a:rPr>
              <a:t>시각화 자료</a:t>
            </a:r>
            <a:endParaRPr sz="2100">
              <a:solidFill>
                <a:schemeClr val="dk1"/>
              </a:solidFill>
              <a:latin typeface="Dancing Script SemiBold"/>
              <a:ea typeface="Dancing Script SemiBold"/>
              <a:cs typeface="Dancing Script SemiBold"/>
              <a:sym typeface="Dancing Script SemiBold"/>
            </a:endParaRPr>
          </a:p>
        </p:txBody>
      </p:sp>
      <p:pic>
        <p:nvPicPr>
          <p:cNvPr id="278" name="Google Shape;278;p43" title="Figure_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5288" y="902951"/>
            <a:ext cx="3034195" cy="1820517"/>
          </a:xfrm>
          <a:prstGeom prst="rect">
            <a:avLst/>
          </a:prstGeom>
          <a:noFill/>
          <a:ln cap="flat" cmpd="sng" w="8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79" name="Google Shape;279;p43" title="Figure_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79471" y="902958"/>
            <a:ext cx="3034195" cy="1820517"/>
          </a:xfrm>
          <a:prstGeom prst="rect">
            <a:avLst/>
          </a:prstGeom>
          <a:noFill/>
          <a:ln cap="flat" cmpd="sng" w="8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80" name="Google Shape;280;p43" title="Figure_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1616" y="2723477"/>
            <a:ext cx="3034195" cy="1820517"/>
          </a:xfrm>
          <a:prstGeom prst="rect">
            <a:avLst/>
          </a:prstGeom>
          <a:noFill/>
          <a:ln cap="flat" cmpd="sng" w="8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81" name="Google Shape;281;p43" title="Figure_9.png"/>
          <p:cNvPicPr preferRelativeResize="0"/>
          <p:nvPr/>
        </p:nvPicPr>
        <p:blipFill rotWithShape="1">
          <a:blip r:embed="rId6">
            <a:alphaModFix/>
          </a:blip>
          <a:srcRect b="0" l="66274" r="0" t="0"/>
          <a:stretch/>
        </p:blipFill>
        <p:spPr>
          <a:xfrm>
            <a:off x="4130250" y="354775"/>
            <a:ext cx="4792573" cy="443394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4"/>
          <p:cNvSpPr txBox="1"/>
          <p:nvPr/>
        </p:nvSpPr>
        <p:spPr>
          <a:xfrm>
            <a:off x="4493200" y="1943475"/>
            <a:ext cx="4228500" cy="22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1인당 GDP와 행복 지수 관계</a:t>
            </a:r>
            <a:r>
              <a:rPr lang="ko" sz="1000">
                <a:solidFill>
                  <a:schemeClr val="dk1"/>
                </a:solidFill>
              </a:rPr>
              <a:t>: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>
                <a:solidFill>
                  <a:schemeClr val="dk1"/>
                </a:solidFill>
              </a:rPr>
              <a:t>데이터를 보면, </a:t>
            </a:r>
            <a:r>
              <a:rPr lang="ko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1인당 GDP</a:t>
            </a:r>
            <a:r>
              <a:rPr lang="ko" sz="1000">
                <a:solidFill>
                  <a:schemeClr val="dk1"/>
                </a:solidFill>
              </a:rPr>
              <a:t>가 높은 국가일수록 </a:t>
            </a:r>
            <a:r>
              <a:rPr lang="ko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행복 지수</a:t>
            </a:r>
            <a:r>
              <a:rPr lang="ko" sz="1000">
                <a:solidFill>
                  <a:schemeClr val="dk1"/>
                </a:solidFill>
              </a:rPr>
              <a:t>도 높게 나타나는 </a:t>
            </a:r>
            <a:r>
              <a:rPr b="1" lang="ko" sz="1000">
                <a:solidFill>
                  <a:schemeClr val="dk1"/>
                </a:solidFill>
              </a:rPr>
              <a:t>강한 양의 상관관계</a:t>
            </a:r>
            <a:r>
              <a:rPr lang="ko" sz="1000">
                <a:solidFill>
                  <a:schemeClr val="dk1"/>
                </a:solidFill>
              </a:rPr>
              <a:t>를 보입니다.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>
                <a:solidFill>
                  <a:schemeClr val="dk1"/>
                </a:solidFill>
              </a:rPr>
              <a:t>이는 개인의 경제적 풍요가 행복에 중요한 영향을 미친다는 것을 의미합니다.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수면 시간과 행복 지수 관계</a:t>
            </a:r>
            <a:r>
              <a:rPr lang="ko" sz="1000">
                <a:solidFill>
                  <a:schemeClr val="dk1"/>
                </a:solidFill>
              </a:rPr>
              <a:t>: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수면 시간</a:t>
            </a:r>
            <a:r>
              <a:rPr lang="ko" sz="1000">
                <a:solidFill>
                  <a:schemeClr val="dk1"/>
                </a:solidFill>
              </a:rPr>
              <a:t>이 길수록 </a:t>
            </a:r>
            <a:r>
              <a:rPr lang="ko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행복 지수</a:t>
            </a:r>
            <a:r>
              <a:rPr lang="ko" sz="1000">
                <a:solidFill>
                  <a:schemeClr val="dk1"/>
                </a:solidFill>
              </a:rPr>
              <a:t>가 높아지는 </a:t>
            </a:r>
            <a:r>
              <a:rPr b="1" lang="ko" sz="1000">
                <a:solidFill>
                  <a:schemeClr val="dk1"/>
                </a:solidFill>
              </a:rPr>
              <a:t>긍정적 상관관계</a:t>
            </a:r>
            <a:r>
              <a:rPr lang="ko" sz="1000">
                <a:solidFill>
                  <a:schemeClr val="dk1"/>
                </a:solidFill>
              </a:rPr>
              <a:t>가 존재합니다.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>
                <a:solidFill>
                  <a:schemeClr val="dk1"/>
                </a:solidFill>
              </a:rPr>
              <a:t>하지만 그 강도는 </a:t>
            </a:r>
            <a:r>
              <a:rPr lang="ko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1인당 GDP</a:t>
            </a:r>
            <a:r>
              <a:rPr lang="ko" sz="1000">
                <a:solidFill>
                  <a:schemeClr val="dk1"/>
                </a:solidFill>
              </a:rPr>
              <a:t>와 비교했을 때 상대적으로 약한 수준입니다.</a:t>
            </a:r>
            <a:endParaRPr sz="10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87" name="Google Shape;287;p44"/>
          <p:cNvSpPr txBox="1"/>
          <p:nvPr/>
        </p:nvSpPr>
        <p:spPr>
          <a:xfrm>
            <a:off x="4493188" y="869700"/>
            <a:ext cx="1736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>
                <a:solidFill>
                  <a:schemeClr val="dk1"/>
                </a:solidFill>
                <a:latin typeface="Dancing Script SemiBold"/>
                <a:ea typeface="Dancing Script SemiBold"/>
                <a:cs typeface="Dancing Script SemiBold"/>
                <a:sym typeface="Dancing Script SemiBold"/>
              </a:rPr>
              <a:t>시각화 자료</a:t>
            </a:r>
            <a:endParaRPr sz="2100">
              <a:solidFill>
                <a:schemeClr val="dk1"/>
              </a:solidFill>
              <a:latin typeface="Dancing Script SemiBold"/>
              <a:ea typeface="Dancing Script SemiBold"/>
              <a:cs typeface="Dancing Script SemiBold"/>
              <a:sym typeface="Dancing Script SemiBold"/>
            </a:endParaRPr>
          </a:p>
        </p:txBody>
      </p:sp>
      <p:pic>
        <p:nvPicPr>
          <p:cNvPr id="288" name="Google Shape;288;p44" title="Figure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150" y="1501750"/>
            <a:ext cx="4188398" cy="214001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5"/>
          <p:cNvSpPr txBox="1"/>
          <p:nvPr/>
        </p:nvSpPr>
        <p:spPr>
          <a:xfrm>
            <a:off x="4493200" y="1943475"/>
            <a:ext cx="4228500" cy="22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ko" sz="1000">
                <a:solidFill>
                  <a:schemeClr val="dk1"/>
                </a:solidFill>
              </a:rPr>
              <a:t>1인당 GDP와 행복 지수 관계</a:t>
            </a:r>
            <a:r>
              <a:rPr lang="ko" sz="1000">
                <a:solidFill>
                  <a:schemeClr val="dk1"/>
                </a:solidFill>
              </a:rPr>
              <a:t>: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>
                <a:solidFill>
                  <a:schemeClr val="dk1"/>
                </a:solidFill>
              </a:rPr>
              <a:t>데이터를 보면, </a:t>
            </a:r>
            <a:r>
              <a:rPr lang="ko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1인당 GDP</a:t>
            </a:r>
            <a:r>
              <a:rPr lang="ko" sz="1000">
                <a:solidFill>
                  <a:schemeClr val="dk1"/>
                </a:solidFill>
              </a:rPr>
              <a:t>가 높은 국가일수록 </a:t>
            </a:r>
            <a:r>
              <a:rPr lang="ko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행복 지수</a:t>
            </a:r>
            <a:r>
              <a:rPr lang="ko" sz="1000">
                <a:solidFill>
                  <a:schemeClr val="dk1"/>
                </a:solidFill>
              </a:rPr>
              <a:t>도 높게 나타나는 </a:t>
            </a:r>
            <a:r>
              <a:rPr b="1" lang="ko" sz="1000">
                <a:solidFill>
                  <a:schemeClr val="dk1"/>
                </a:solidFill>
              </a:rPr>
              <a:t>강한 양의 상관관계</a:t>
            </a:r>
            <a:r>
              <a:rPr lang="ko" sz="1000">
                <a:solidFill>
                  <a:schemeClr val="dk1"/>
                </a:solidFill>
              </a:rPr>
              <a:t>를 보입니다.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>
                <a:solidFill>
                  <a:schemeClr val="dk1"/>
                </a:solidFill>
              </a:rPr>
              <a:t>이는 개인의 경제적 풍요가 행복에 중요한 영향을 미친다는 것을 의미합니다.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ko" sz="1000">
                <a:solidFill>
                  <a:schemeClr val="dk1"/>
                </a:solidFill>
              </a:rPr>
              <a:t>수면 시간과 행복 지수 관계</a:t>
            </a:r>
            <a:r>
              <a:rPr lang="ko" sz="1000">
                <a:solidFill>
                  <a:schemeClr val="dk1"/>
                </a:solidFill>
              </a:rPr>
              <a:t>: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수면 시간</a:t>
            </a:r>
            <a:r>
              <a:rPr lang="ko" sz="1000">
                <a:solidFill>
                  <a:schemeClr val="dk1"/>
                </a:solidFill>
              </a:rPr>
              <a:t>이 길수록 </a:t>
            </a:r>
            <a:r>
              <a:rPr lang="ko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행복 지수</a:t>
            </a:r>
            <a:r>
              <a:rPr lang="ko" sz="1000">
                <a:solidFill>
                  <a:schemeClr val="dk1"/>
                </a:solidFill>
              </a:rPr>
              <a:t>가 높아지는 </a:t>
            </a:r>
            <a:r>
              <a:rPr b="1" lang="ko" sz="1000">
                <a:solidFill>
                  <a:schemeClr val="dk1"/>
                </a:solidFill>
              </a:rPr>
              <a:t>긍정적 상관관계</a:t>
            </a:r>
            <a:r>
              <a:rPr lang="ko" sz="1000">
                <a:solidFill>
                  <a:schemeClr val="dk1"/>
                </a:solidFill>
              </a:rPr>
              <a:t>가 존재합니다.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>
                <a:solidFill>
                  <a:schemeClr val="dk1"/>
                </a:solidFill>
              </a:rPr>
              <a:t>하지만 그 강도는 </a:t>
            </a:r>
            <a:r>
              <a:rPr lang="ko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1인당 GDP</a:t>
            </a:r>
            <a:r>
              <a:rPr lang="ko" sz="1000">
                <a:solidFill>
                  <a:schemeClr val="dk1"/>
                </a:solidFill>
              </a:rPr>
              <a:t>와 비교했을 때 상대적으로 약한 수준입니다.</a:t>
            </a:r>
            <a:endParaRPr sz="10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94" name="Google Shape;294;p45"/>
          <p:cNvSpPr txBox="1"/>
          <p:nvPr/>
        </p:nvSpPr>
        <p:spPr>
          <a:xfrm>
            <a:off x="4493188" y="869700"/>
            <a:ext cx="17361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>
                <a:solidFill>
                  <a:schemeClr val="dk1"/>
                </a:solidFill>
                <a:latin typeface="Dancing Script SemiBold"/>
                <a:ea typeface="Dancing Script SemiBold"/>
                <a:cs typeface="Dancing Script SemiBold"/>
                <a:sym typeface="Dancing Script SemiBold"/>
              </a:rPr>
              <a:t>데이터 분석 시각화 2</a:t>
            </a:r>
            <a:endParaRPr sz="2100">
              <a:solidFill>
                <a:schemeClr val="dk1"/>
              </a:solidFill>
              <a:latin typeface="Dancing Script SemiBold"/>
              <a:ea typeface="Dancing Script SemiBold"/>
              <a:cs typeface="Dancing Script SemiBold"/>
              <a:sym typeface="Dancing Script SemiBold"/>
            </a:endParaRPr>
          </a:p>
        </p:txBody>
      </p:sp>
      <p:pic>
        <p:nvPicPr>
          <p:cNvPr id="295" name="Google Shape;295;p45" title="Figure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150" y="1501750"/>
            <a:ext cx="4188398" cy="214001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96" name="Google Shape;296;p45" title="Figure_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39750"/>
            <a:ext cx="9144000" cy="4064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6"/>
          <p:cNvSpPr txBox="1"/>
          <p:nvPr/>
        </p:nvSpPr>
        <p:spPr>
          <a:xfrm>
            <a:off x="4493200" y="1943475"/>
            <a:ext cx="4228500" cy="22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ko" sz="1000">
                <a:solidFill>
                  <a:schemeClr val="dk1"/>
                </a:solidFill>
              </a:rPr>
              <a:t>1인당 GDP와 행복 지수 관계</a:t>
            </a:r>
            <a:r>
              <a:rPr lang="ko" sz="1000">
                <a:solidFill>
                  <a:schemeClr val="dk1"/>
                </a:solidFill>
              </a:rPr>
              <a:t>: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>
                <a:solidFill>
                  <a:schemeClr val="dk1"/>
                </a:solidFill>
              </a:rPr>
              <a:t>데이터를 보면, </a:t>
            </a:r>
            <a:r>
              <a:rPr lang="ko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1인당 GDP</a:t>
            </a:r>
            <a:r>
              <a:rPr lang="ko" sz="1000">
                <a:solidFill>
                  <a:schemeClr val="dk1"/>
                </a:solidFill>
              </a:rPr>
              <a:t>가 높은 국가일수록 </a:t>
            </a:r>
            <a:r>
              <a:rPr lang="ko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행복 지수</a:t>
            </a:r>
            <a:r>
              <a:rPr lang="ko" sz="1000">
                <a:solidFill>
                  <a:schemeClr val="dk1"/>
                </a:solidFill>
              </a:rPr>
              <a:t>도 높게 나타나는 </a:t>
            </a:r>
            <a:r>
              <a:rPr b="1" lang="ko" sz="1000">
                <a:solidFill>
                  <a:schemeClr val="dk1"/>
                </a:solidFill>
              </a:rPr>
              <a:t>강한 양의 상관관계</a:t>
            </a:r>
            <a:r>
              <a:rPr lang="ko" sz="1000">
                <a:solidFill>
                  <a:schemeClr val="dk1"/>
                </a:solidFill>
              </a:rPr>
              <a:t>를 보입니다.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>
                <a:solidFill>
                  <a:schemeClr val="dk1"/>
                </a:solidFill>
              </a:rPr>
              <a:t>이는 개인의 경제적 풍요가 행복에 중요한 영향을 미친다는 것을 의미합니다.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ko" sz="1000">
                <a:solidFill>
                  <a:schemeClr val="dk1"/>
                </a:solidFill>
              </a:rPr>
              <a:t>수면 시간과 행복 지수 관계</a:t>
            </a:r>
            <a:r>
              <a:rPr lang="ko" sz="1000">
                <a:solidFill>
                  <a:schemeClr val="dk1"/>
                </a:solidFill>
              </a:rPr>
              <a:t>: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수면 시간</a:t>
            </a:r>
            <a:r>
              <a:rPr lang="ko" sz="1000">
                <a:solidFill>
                  <a:schemeClr val="dk1"/>
                </a:solidFill>
              </a:rPr>
              <a:t>이 길수록 </a:t>
            </a:r>
            <a:r>
              <a:rPr lang="ko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행복 지수</a:t>
            </a:r>
            <a:r>
              <a:rPr lang="ko" sz="1000">
                <a:solidFill>
                  <a:schemeClr val="dk1"/>
                </a:solidFill>
              </a:rPr>
              <a:t>가 높아지는 </a:t>
            </a:r>
            <a:r>
              <a:rPr b="1" lang="ko" sz="1000">
                <a:solidFill>
                  <a:schemeClr val="dk1"/>
                </a:solidFill>
              </a:rPr>
              <a:t>긍정적 상관관계</a:t>
            </a:r>
            <a:r>
              <a:rPr lang="ko" sz="1000">
                <a:solidFill>
                  <a:schemeClr val="dk1"/>
                </a:solidFill>
              </a:rPr>
              <a:t>가 존재합니다.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>
                <a:solidFill>
                  <a:schemeClr val="dk1"/>
                </a:solidFill>
              </a:rPr>
              <a:t>하지만 그 강도는 </a:t>
            </a:r>
            <a:r>
              <a:rPr lang="ko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1인당 GDP</a:t>
            </a:r>
            <a:r>
              <a:rPr lang="ko" sz="1000">
                <a:solidFill>
                  <a:schemeClr val="dk1"/>
                </a:solidFill>
              </a:rPr>
              <a:t>와 비교했을 때 상대적으로 약한 수준입니다.</a:t>
            </a:r>
            <a:endParaRPr sz="10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02" name="Google Shape;302;p46"/>
          <p:cNvSpPr txBox="1"/>
          <p:nvPr/>
        </p:nvSpPr>
        <p:spPr>
          <a:xfrm>
            <a:off x="4493188" y="869700"/>
            <a:ext cx="17361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>
                <a:solidFill>
                  <a:schemeClr val="dk1"/>
                </a:solidFill>
                <a:latin typeface="Dancing Script SemiBold"/>
                <a:ea typeface="Dancing Script SemiBold"/>
                <a:cs typeface="Dancing Script SemiBold"/>
                <a:sym typeface="Dancing Script SemiBold"/>
              </a:rPr>
              <a:t>데이터 분석 시각화 2</a:t>
            </a:r>
            <a:endParaRPr sz="2100">
              <a:solidFill>
                <a:schemeClr val="dk1"/>
              </a:solidFill>
              <a:latin typeface="Dancing Script SemiBold"/>
              <a:ea typeface="Dancing Script SemiBold"/>
              <a:cs typeface="Dancing Script SemiBold"/>
              <a:sym typeface="Dancing Script SemiBold"/>
            </a:endParaRPr>
          </a:p>
        </p:txBody>
      </p:sp>
      <p:pic>
        <p:nvPicPr>
          <p:cNvPr id="303" name="Google Shape;303;p46" title="Figure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150" y="1501750"/>
            <a:ext cx="4188398" cy="214001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04" name="Google Shape;304;p46" title="Figure_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39750"/>
            <a:ext cx="9144000" cy="4064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7"/>
          <p:cNvSpPr txBox="1"/>
          <p:nvPr/>
        </p:nvSpPr>
        <p:spPr>
          <a:xfrm>
            <a:off x="4493200" y="1943475"/>
            <a:ext cx="4228500" cy="22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ko" sz="1000">
                <a:solidFill>
                  <a:schemeClr val="dk1"/>
                </a:solidFill>
              </a:rPr>
              <a:t>1인당 GDP와 행복 지수 관계</a:t>
            </a:r>
            <a:r>
              <a:rPr lang="ko" sz="1000">
                <a:solidFill>
                  <a:schemeClr val="dk1"/>
                </a:solidFill>
              </a:rPr>
              <a:t>: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>
                <a:solidFill>
                  <a:schemeClr val="dk1"/>
                </a:solidFill>
              </a:rPr>
              <a:t>데이터를 보면, </a:t>
            </a:r>
            <a:r>
              <a:rPr lang="ko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1인당 GDP</a:t>
            </a:r>
            <a:r>
              <a:rPr lang="ko" sz="1000">
                <a:solidFill>
                  <a:schemeClr val="dk1"/>
                </a:solidFill>
              </a:rPr>
              <a:t>가 높은 국가일수록 </a:t>
            </a:r>
            <a:r>
              <a:rPr lang="ko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행복 지수</a:t>
            </a:r>
            <a:r>
              <a:rPr lang="ko" sz="1000">
                <a:solidFill>
                  <a:schemeClr val="dk1"/>
                </a:solidFill>
              </a:rPr>
              <a:t>도 높게 나타나는 </a:t>
            </a:r>
            <a:r>
              <a:rPr b="1" lang="ko" sz="1000">
                <a:solidFill>
                  <a:schemeClr val="dk1"/>
                </a:solidFill>
              </a:rPr>
              <a:t>강한 양의 상관관계</a:t>
            </a:r>
            <a:r>
              <a:rPr lang="ko" sz="1000">
                <a:solidFill>
                  <a:schemeClr val="dk1"/>
                </a:solidFill>
              </a:rPr>
              <a:t>를 보입니다.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>
                <a:solidFill>
                  <a:schemeClr val="dk1"/>
                </a:solidFill>
              </a:rPr>
              <a:t>이는 개인의 경제적 풍요가 행복에 중요한 영향을 미친다는 것을 의미합니다.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ko" sz="1000">
                <a:solidFill>
                  <a:schemeClr val="dk1"/>
                </a:solidFill>
              </a:rPr>
              <a:t>수면 시간과 행복 지수 관계</a:t>
            </a:r>
            <a:r>
              <a:rPr lang="ko" sz="1000">
                <a:solidFill>
                  <a:schemeClr val="dk1"/>
                </a:solidFill>
              </a:rPr>
              <a:t>: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수면 시간</a:t>
            </a:r>
            <a:r>
              <a:rPr lang="ko" sz="1000">
                <a:solidFill>
                  <a:schemeClr val="dk1"/>
                </a:solidFill>
              </a:rPr>
              <a:t>이 길수록 </a:t>
            </a:r>
            <a:r>
              <a:rPr lang="ko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행복 지수</a:t>
            </a:r>
            <a:r>
              <a:rPr lang="ko" sz="1000">
                <a:solidFill>
                  <a:schemeClr val="dk1"/>
                </a:solidFill>
              </a:rPr>
              <a:t>가 높아지는 </a:t>
            </a:r>
            <a:r>
              <a:rPr b="1" lang="ko" sz="1000">
                <a:solidFill>
                  <a:schemeClr val="dk1"/>
                </a:solidFill>
              </a:rPr>
              <a:t>긍정적 상관관계</a:t>
            </a:r>
            <a:r>
              <a:rPr lang="ko" sz="1000">
                <a:solidFill>
                  <a:schemeClr val="dk1"/>
                </a:solidFill>
              </a:rPr>
              <a:t>가 존재합니다.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>
                <a:solidFill>
                  <a:schemeClr val="dk1"/>
                </a:solidFill>
              </a:rPr>
              <a:t>하지만 그 강도는 </a:t>
            </a:r>
            <a:r>
              <a:rPr lang="ko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1인당 GDP</a:t>
            </a:r>
            <a:r>
              <a:rPr lang="ko" sz="1000">
                <a:solidFill>
                  <a:schemeClr val="dk1"/>
                </a:solidFill>
              </a:rPr>
              <a:t>와 비교했을 때 상대적으로 약한 수준입니다.</a:t>
            </a:r>
            <a:endParaRPr sz="10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10" name="Google Shape;310;p47"/>
          <p:cNvSpPr txBox="1"/>
          <p:nvPr/>
        </p:nvSpPr>
        <p:spPr>
          <a:xfrm>
            <a:off x="4493188" y="869700"/>
            <a:ext cx="17361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>
                <a:solidFill>
                  <a:schemeClr val="dk1"/>
                </a:solidFill>
                <a:latin typeface="Dancing Script SemiBold"/>
                <a:ea typeface="Dancing Script SemiBold"/>
                <a:cs typeface="Dancing Script SemiBold"/>
                <a:sym typeface="Dancing Script SemiBold"/>
              </a:rPr>
              <a:t>데이터 분석 시각화 2</a:t>
            </a:r>
            <a:endParaRPr sz="2100">
              <a:solidFill>
                <a:schemeClr val="dk1"/>
              </a:solidFill>
              <a:latin typeface="Dancing Script SemiBold"/>
              <a:ea typeface="Dancing Script SemiBold"/>
              <a:cs typeface="Dancing Script SemiBold"/>
              <a:sym typeface="Dancing Script SemiBold"/>
            </a:endParaRPr>
          </a:p>
        </p:txBody>
      </p:sp>
      <p:pic>
        <p:nvPicPr>
          <p:cNvPr id="311" name="Google Shape;311;p47" title="Figure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150" y="1501750"/>
            <a:ext cx="4188398" cy="214001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2" name="Google Shape;312;p47" title="Figure_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39750"/>
            <a:ext cx="9144000" cy="4064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8"/>
          <p:cNvSpPr txBox="1"/>
          <p:nvPr/>
        </p:nvSpPr>
        <p:spPr>
          <a:xfrm>
            <a:off x="4493200" y="1943475"/>
            <a:ext cx="4228500" cy="22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ko" sz="1000">
                <a:solidFill>
                  <a:schemeClr val="dk1"/>
                </a:solidFill>
              </a:rPr>
              <a:t>1인당 GDP와 행복 지수 관계</a:t>
            </a:r>
            <a:r>
              <a:rPr lang="ko" sz="1000">
                <a:solidFill>
                  <a:schemeClr val="dk1"/>
                </a:solidFill>
              </a:rPr>
              <a:t>: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>
                <a:solidFill>
                  <a:schemeClr val="dk1"/>
                </a:solidFill>
              </a:rPr>
              <a:t>데이터를 보면, </a:t>
            </a:r>
            <a:r>
              <a:rPr lang="ko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1인당 GDP</a:t>
            </a:r>
            <a:r>
              <a:rPr lang="ko" sz="1000">
                <a:solidFill>
                  <a:schemeClr val="dk1"/>
                </a:solidFill>
              </a:rPr>
              <a:t>가 높은 국가일수록 </a:t>
            </a:r>
            <a:r>
              <a:rPr lang="ko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행복 지수</a:t>
            </a:r>
            <a:r>
              <a:rPr lang="ko" sz="1000">
                <a:solidFill>
                  <a:schemeClr val="dk1"/>
                </a:solidFill>
              </a:rPr>
              <a:t>도 높게 나타나는 </a:t>
            </a:r>
            <a:r>
              <a:rPr b="1" lang="ko" sz="1000">
                <a:solidFill>
                  <a:schemeClr val="dk1"/>
                </a:solidFill>
              </a:rPr>
              <a:t>강한 양의 상관관계</a:t>
            </a:r>
            <a:r>
              <a:rPr lang="ko" sz="1000">
                <a:solidFill>
                  <a:schemeClr val="dk1"/>
                </a:solidFill>
              </a:rPr>
              <a:t>를 보입니다.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>
                <a:solidFill>
                  <a:schemeClr val="dk1"/>
                </a:solidFill>
              </a:rPr>
              <a:t>이는 개인의 경제적 풍요가 행복에 중요한 영향을 미친다는 것을 의미합니다.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ko" sz="1000">
                <a:solidFill>
                  <a:schemeClr val="dk1"/>
                </a:solidFill>
              </a:rPr>
              <a:t>수면 시간과 행복 지수 관계</a:t>
            </a:r>
            <a:r>
              <a:rPr lang="ko" sz="1000">
                <a:solidFill>
                  <a:schemeClr val="dk1"/>
                </a:solidFill>
              </a:rPr>
              <a:t>: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수면 시간</a:t>
            </a:r>
            <a:r>
              <a:rPr lang="ko" sz="1000">
                <a:solidFill>
                  <a:schemeClr val="dk1"/>
                </a:solidFill>
              </a:rPr>
              <a:t>이 길수록 </a:t>
            </a:r>
            <a:r>
              <a:rPr lang="ko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행복 지수</a:t>
            </a:r>
            <a:r>
              <a:rPr lang="ko" sz="1000">
                <a:solidFill>
                  <a:schemeClr val="dk1"/>
                </a:solidFill>
              </a:rPr>
              <a:t>가 높아지는 </a:t>
            </a:r>
            <a:r>
              <a:rPr b="1" lang="ko" sz="1000">
                <a:solidFill>
                  <a:schemeClr val="dk1"/>
                </a:solidFill>
              </a:rPr>
              <a:t>긍정적 상관관계</a:t>
            </a:r>
            <a:r>
              <a:rPr lang="ko" sz="1000">
                <a:solidFill>
                  <a:schemeClr val="dk1"/>
                </a:solidFill>
              </a:rPr>
              <a:t>가 존재합니다.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>
                <a:solidFill>
                  <a:schemeClr val="dk1"/>
                </a:solidFill>
              </a:rPr>
              <a:t>하지만 그 강도는 </a:t>
            </a:r>
            <a:r>
              <a:rPr lang="ko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1인당 GDP</a:t>
            </a:r>
            <a:r>
              <a:rPr lang="ko" sz="1000">
                <a:solidFill>
                  <a:schemeClr val="dk1"/>
                </a:solidFill>
              </a:rPr>
              <a:t>와 비교했을 때 상대적으로 약한 수준입니다.</a:t>
            </a:r>
            <a:endParaRPr sz="10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18" name="Google Shape;318;p48"/>
          <p:cNvSpPr txBox="1"/>
          <p:nvPr/>
        </p:nvSpPr>
        <p:spPr>
          <a:xfrm>
            <a:off x="4493188" y="869700"/>
            <a:ext cx="17361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>
                <a:solidFill>
                  <a:schemeClr val="dk1"/>
                </a:solidFill>
                <a:latin typeface="Dancing Script SemiBold"/>
                <a:ea typeface="Dancing Script SemiBold"/>
                <a:cs typeface="Dancing Script SemiBold"/>
                <a:sym typeface="Dancing Script SemiBold"/>
              </a:rPr>
              <a:t>데이터 분석 시각화 2</a:t>
            </a:r>
            <a:endParaRPr sz="2100">
              <a:solidFill>
                <a:schemeClr val="dk1"/>
              </a:solidFill>
              <a:latin typeface="Dancing Script SemiBold"/>
              <a:ea typeface="Dancing Script SemiBold"/>
              <a:cs typeface="Dancing Script SemiBold"/>
              <a:sym typeface="Dancing Script SemiBold"/>
            </a:endParaRPr>
          </a:p>
        </p:txBody>
      </p:sp>
      <p:pic>
        <p:nvPicPr>
          <p:cNvPr id="319" name="Google Shape;319;p48" title="Figure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150" y="1501750"/>
            <a:ext cx="4188398" cy="214001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20" name="Google Shape;320;p48" title="Figure_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39750"/>
            <a:ext cx="9144000" cy="4064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9"/>
          <p:cNvSpPr txBox="1"/>
          <p:nvPr/>
        </p:nvSpPr>
        <p:spPr>
          <a:xfrm>
            <a:off x="4341463" y="3435788"/>
            <a:ext cx="42285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ko" sz="1000">
                <a:solidFill>
                  <a:schemeClr val="dk1"/>
                </a:solidFill>
              </a:rPr>
              <a:t>상관 관계 비교 표: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행복 지수</a:t>
            </a:r>
            <a:r>
              <a:rPr lang="ko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를 기준으로 상관관계를 비교 했을 때: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 Mono"/>
              <a:buChar char="➔"/>
            </a:pPr>
            <a:r>
              <a:rPr lang="ko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1인당 GDP/수면 시간</a:t>
            </a:r>
            <a:r>
              <a:rPr lang="ko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: </a:t>
            </a:r>
            <a:r>
              <a:rPr b="1" lang="ko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강한 양의 상관관계 </a:t>
            </a:r>
            <a:r>
              <a:rPr lang="ko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== 관계성이 강함</a:t>
            </a:r>
            <a:endParaRPr b="1"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 Mono"/>
              <a:buChar char="➔"/>
            </a:pPr>
            <a:r>
              <a:rPr lang="ko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GDP 성장률</a:t>
            </a:r>
            <a:r>
              <a:rPr b="1" lang="ko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: 0에 가까운 상관관계 </a:t>
            </a:r>
            <a:r>
              <a:rPr lang="ko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== 관계성이 거의 없음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26" name="Google Shape;326;p49"/>
          <p:cNvSpPr txBox="1"/>
          <p:nvPr/>
        </p:nvSpPr>
        <p:spPr>
          <a:xfrm>
            <a:off x="877075" y="3647988"/>
            <a:ext cx="1736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>
                <a:solidFill>
                  <a:schemeClr val="dk1"/>
                </a:solidFill>
                <a:latin typeface="Dancing Script SemiBold"/>
                <a:ea typeface="Dancing Script SemiBold"/>
                <a:cs typeface="Dancing Script SemiBold"/>
                <a:sym typeface="Dancing Script SemiBold"/>
              </a:rPr>
              <a:t>시각화 자료</a:t>
            </a:r>
            <a:endParaRPr sz="2100">
              <a:solidFill>
                <a:schemeClr val="dk1"/>
              </a:solidFill>
              <a:latin typeface="Dancing Script SemiBold"/>
              <a:ea typeface="Dancing Script SemiBold"/>
              <a:cs typeface="Dancing Script SemiBold"/>
              <a:sym typeface="Dancing Script SemiBold"/>
            </a:endParaRPr>
          </a:p>
        </p:txBody>
      </p:sp>
      <p:pic>
        <p:nvPicPr>
          <p:cNvPr id="327" name="Google Shape;327;p49" title="Figure_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775" y="645713"/>
            <a:ext cx="8242435" cy="25717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0"/>
          <p:cNvSpPr txBox="1"/>
          <p:nvPr/>
        </p:nvSpPr>
        <p:spPr>
          <a:xfrm>
            <a:off x="2634306" y="1696390"/>
            <a:ext cx="38754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3600">
                <a:solidFill>
                  <a:schemeClr val="dk1"/>
                </a:solidFill>
                <a:latin typeface="Dancing Script SemiBold"/>
                <a:ea typeface="Dancing Script SemiBold"/>
                <a:cs typeface="Dancing Script SemiBold"/>
                <a:sym typeface="Dancing Script SemiBold"/>
              </a:rPr>
              <a:t>Conclusion</a:t>
            </a:r>
            <a:endParaRPr sz="1100"/>
          </a:p>
        </p:txBody>
      </p:sp>
      <p:sp>
        <p:nvSpPr>
          <p:cNvPr id="333" name="Google Shape;333;p50"/>
          <p:cNvSpPr txBox="1"/>
          <p:nvPr/>
        </p:nvSpPr>
        <p:spPr>
          <a:xfrm>
            <a:off x="3816675" y="2823700"/>
            <a:ext cx="16137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ko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인사이트 도출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Light"/>
              <a:buChar char="▪"/>
            </a:pPr>
            <a:r>
              <a:rPr lang="ko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한계점 및 추가 분석 방향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1"/>
          <p:cNvSpPr txBox="1"/>
          <p:nvPr/>
        </p:nvSpPr>
        <p:spPr>
          <a:xfrm>
            <a:off x="4459500" y="1271975"/>
            <a:ext cx="4306800" cy="32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인사이트 1: 1인당 GDP와 행복의 강한 연관성, 그러나 총 GDP와는 다른 관계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1인당 GDP와 행복 지수 사이에는 모든 연도에 걸쳐 </a:t>
            </a:r>
            <a:r>
              <a:rPr b="1" lang="ko" sz="1100">
                <a:solidFill>
                  <a:schemeClr val="dk1"/>
                </a:solidFill>
              </a:rPr>
              <a:t>강하고 일관된 양의 상관관계</a:t>
            </a:r>
            <a:r>
              <a:rPr lang="ko" sz="1100">
                <a:solidFill>
                  <a:schemeClr val="dk1"/>
                </a:solidFill>
              </a:rPr>
              <a:t>가 나타났습니다.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하지만 GDP </a:t>
            </a:r>
            <a:r>
              <a:rPr b="1" lang="ko" sz="1100">
                <a:solidFill>
                  <a:schemeClr val="dk1"/>
                </a:solidFill>
              </a:rPr>
              <a:t>성장률</a:t>
            </a:r>
            <a:r>
              <a:rPr lang="ko" sz="1100">
                <a:solidFill>
                  <a:schemeClr val="dk1"/>
                </a:solidFill>
              </a:rPr>
              <a:t>은 행복 지수와 뚜렷한 관계를 보이지 않았습니다. 이는 행복이 국가의 경제적 '규모'나 '성장 속도'보다는 개인에게 돌아오는 경제적 풍요의 수준(1인당 GDP)과 더 밀접함을 의미합니다.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인사이트 2: 수면 시간은 독립적으로 행복에 기여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수면 시간과 행복 지수 사이에는 </a:t>
            </a: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1인당 GDP</a:t>
            </a:r>
            <a:r>
              <a:rPr lang="ko" sz="1100">
                <a:solidFill>
                  <a:schemeClr val="dk1"/>
                </a:solidFill>
              </a:rPr>
              <a:t>보다는 약하지만 </a:t>
            </a:r>
            <a:r>
              <a:rPr b="1" lang="ko" sz="1100">
                <a:solidFill>
                  <a:schemeClr val="dk1"/>
                </a:solidFill>
              </a:rPr>
              <a:t>긍정적인 상관관계</a:t>
            </a:r>
            <a:r>
              <a:rPr lang="ko" sz="1100">
                <a:solidFill>
                  <a:schemeClr val="dk1"/>
                </a:solidFill>
              </a:rPr>
              <a:t>가 존재합니다.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수면 시간</a:t>
            </a:r>
            <a:r>
              <a:rPr lang="ko" sz="1100">
                <a:solidFill>
                  <a:schemeClr val="dk1"/>
                </a:solidFill>
              </a:rPr>
              <a:t>과 </a:t>
            </a: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총 GDP</a:t>
            </a:r>
            <a:r>
              <a:rPr lang="ko" sz="1100">
                <a:solidFill>
                  <a:schemeClr val="dk1"/>
                </a:solidFill>
              </a:rPr>
              <a:t> 사이에는 뚜렷한 관계가 없었습니다. 이 두 지표는 서로 독립적으로 작용하여 행복에 영향을 미칠 수 있음을 보여줍니다.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339" name="Google Shape;339;p51"/>
          <p:cNvSpPr txBox="1"/>
          <p:nvPr/>
        </p:nvSpPr>
        <p:spPr>
          <a:xfrm>
            <a:off x="4459488" y="639925"/>
            <a:ext cx="1736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>
                <a:solidFill>
                  <a:schemeClr val="dk1"/>
                </a:solidFill>
                <a:latin typeface="Dancing Script SemiBold"/>
                <a:ea typeface="Dancing Script SemiBold"/>
                <a:cs typeface="Dancing Script SemiBold"/>
                <a:sym typeface="Dancing Script SemiBold"/>
              </a:rPr>
              <a:t>인사이트</a:t>
            </a:r>
            <a:endParaRPr sz="2100">
              <a:solidFill>
                <a:schemeClr val="dk1"/>
              </a:solidFill>
              <a:latin typeface="Dancing Script SemiBold"/>
              <a:ea typeface="Dancing Script SemiBold"/>
              <a:cs typeface="Dancing Script SemiBold"/>
              <a:sym typeface="Dancing Script SemiBold"/>
            </a:endParaRPr>
          </a:p>
        </p:txBody>
      </p:sp>
      <p:pic>
        <p:nvPicPr>
          <p:cNvPr id="340" name="Google Shape;340;p51" title="money_happy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850" y="248400"/>
            <a:ext cx="3414675" cy="227841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41" name="Google Shape;341;p51" title="sleep_happy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850" y="2619522"/>
            <a:ext cx="3414675" cy="227558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2"/>
          <p:cNvSpPr txBox="1"/>
          <p:nvPr/>
        </p:nvSpPr>
        <p:spPr>
          <a:xfrm>
            <a:off x="4400475" y="1664738"/>
            <a:ext cx="4214100" cy="15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</a:rPr>
              <a:t>'돈과 잠 중 무엇이 사람을 더 행복하게 하는가?'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라는 질문에 대해, 경제적 풍요의 수준(1인당 GDP)과 </a:t>
            </a:r>
            <a:r>
              <a:rPr b="1" lang="ko" sz="1100">
                <a:solidFill>
                  <a:schemeClr val="dk1"/>
                </a:solidFill>
              </a:rPr>
              <a:t>충분한 수면 시간</a:t>
            </a:r>
            <a:r>
              <a:rPr lang="ko" sz="1100">
                <a:solidFill>
                  <a:schemeClr val="dk1"/>
                </a:solidFill>
              </a:rPr>
              <a:t>은 모두 행복에 긍정적인 영향을 미치며, 이 두 요인은 서로 독립적으로 작용하는 경향이 있습니다.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하지만, 국가적인 관점에서 GDP 성장률이 높다고 해서 개인의 행복에 큰 영향을 끼치지는 않는 것으로 파악됐습니다.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47" name="Google Shape;347;p52"/>
          <p:cNvSpPr txBox="1"/>
          <p:nvPr/>
        </p:nvSpPr>
        <p:spPr>
          <a:xfrm>
            <a:off x="4400463" y="1015813"/>
            <a:ext cx="1736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>
                <a:solidFill>
                  <a:schemeClr val="dk1"/>
                </a:solidFill>
                <a:latin typeface="Dancing Script SemiBold"/>
                <a:ea typeface="Dancing Script SemiBold"/>
                <a:cs typeface="Dancing Script SemiBold"/>
                <a:sym typeface="Dancing Script SemiBold"/>
              </a:rPr>
              <a:t>최종 결론</a:t>
            </a:r>
            <a:endParaRPr sz="2100">
              <a:solidFill>
                <a:schemeClr val="dk1"/>
              </a:solidFill>
              <a:latin typeface="Dancing Script SemiBold"/>
              <a:ea typeface="Dancing Script SemiBold"/>
              <a:cs typeface="Dancing Script SemiBold"/>
              <a:sym typeface="Dancing Script SemiBold"/>
            </a:endParaRPr>
          </a:p>
        </p:txBody>
      </p:sp>
      <p:pic>
        <p:nvPicPr>
          <p:cNvPr id="348" name="Google Shape;348;p52" title="money_happy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850" y="248400"/>
            <a:ext cx="3414675" cy="227841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49" name="Google Shape;349;p52" title="sleep_happy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850" y="2619522"/>
            <a:ext cx="3414675" cy="227558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50" name="Google Shape;350;p52"/>
          <p:cNvSpPr txBox="1"/>
          <p:nvPr/>
        </p:nvSpPr>
        <p:spPr>
          <a:xfrm>
            <a:off x="4512975" y="3873863"/>
            <a:ext cx="4214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b="1" i="1" lang="ko" sz="1200">
                <a:solidFill>
                  <a:schemeClr val="dk1"/>
                </a:solidFill>
              </a:rPr>
              <a:t>“잘 사는 국가라고 다 행복한 것은 아니다.”</a:t>
            </a:r>
            <a:endParaRPr i="1" sz="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3"/>
          <p:cNvSpPr txBox="1"/>
          <p:nvPr/>
        </p:nvSpPr>
        <p:spPr>
          <a:xfrm>
            <a:off x="4349900" y="1048438"/>
            <a:ext cx="4214100" cy="39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한계점</a:t>
            </a:r>
            <a:r>
              <a:rPr lang="ko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평균 수면 시간</a:t>
            </a:r>
            <a:r>
              <a:rPr lang="ko" sz="1100">
                <a:solidFill>
                  <a:schemeClr val="dk1"/>
                </a:solidFill>
              </a:rPr>
              <a:t> 데이터가 2024년 데이터에만 국한되어 있고 데이터를 확보한 국가 수가 적어서, 시간의 흐름에 따른 관계 변화를 분석할 수 없고, 좀 더 깊이 있는 연구가 불가능합니다.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분석 결과는 상관관계를 보여줄 뿐, </a:t>
            </a:r>
            <a:r>
              <a:rPr b="1" lang="ko" sz="1100">
                <a:solidFill>
                  <a:schemeClr val="dk1"/>
                </a:solidFill>
              </a:rPr>
              <a:t>인과 관계</a:t>
            </a:r>
            <a:r>
              <a:rPr lang="ko" sz="1100">
                <a:solidFill>
                  <a:schemeClr val="dk1"/>
                </a:solidFill>
              </a:rPr>
              <a:t>를 직접 증명하지는 않습니다.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20~24년도의 데이터 세트만 가지고 분석한 결과라 분석 결과의 신뢰도가 낮습니다.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추가 분석 방향</a:t>
            </a:r>
            <a:r>
              <a:rPr lang="ko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다년간/다양한 국가의 수면 시간 데이터를 확보하여, </a:t>
            </a: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수면</a:t>
            </a:r>
            <a:r>
              <a:rPr lang="ko" sz="1100">
                <a:solidFill>
                  <a:schemeClr val="dk1"/>
                </a:solidFill>
              </a:rPr>
              <a:t>, </a:t>
            </a: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GDP</a:t>
            </a:r>
            <a:r>
              <a:rPr lang="ko" sz="1100">
                <a:solidFill>
                  <a:schemeClr val="dk1"/>
                </a:solidFill>
              </a:rPr>
              <a:t>, </a:t>
            </a: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행복 지수</a:t>
            </a:r>
            <a:r>
              <a:rPr lang="ko" sz="1100">
                <a:solidFill>
                  <a:schemeClr val="dk1"/>
                </a:solidFill>
              </a:rPr>
              <a:t> 간의 관계가 시간에 따라 어떻게 변하는지 심층적으로 분석할 수 있습니다.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WHR 데이터에 포함된 </a:t>
            </a: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사회적 지지</a:t>
            </a:r>
            <a:r>
              <a:rPr lang="ko" sz="1100">
                <a:solidFill>
                  <a:schemeClr val="dk1"/>
                </a:solidFill>
              </a:rPr>
              <a:t>, </a:t>
            </a: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건강 기대 수명</a:t>
            </a:r>
            <a:r>
              <a:rPr lang="ko" sz="1100">
                <a:solidFill>
                  <a:schemeClr val="dk1"/>
                </a:solidFill>
              </a:rPr>
              <a:t>, </a:t>
            </a: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자유</a:t>
            </a:r>
            <a:r>
              <a:rPr lang="ko" sz="1100">
                <a:solidFill>
                  <a:schemeClr val="dk1"/>
                </a:solidFill>
              </a:rPr>
              <a:t> 등 다른 변수들을 추가하여 행복에 영향을 미치는 비경제적 요인들을 더 깊이 탐구할 수 있습니다.</a:t>
            </a:r>
            <a:endParaRPr b="1" sz="500">
              <a:solidFill>
                <a:schemeClr val="dk1"/>
              </a:solidFill>
            </a:endParaRPr>
          </a:p>
        </p:txBody>
      </p:sp>
      <p:sp>
        <p:nvSpPr>
          <p:cNvPr id="356" name="Google Shape;356;p53"/>
          <p:cNvSpPr txBox="1"/>
          <p:nvPr/>
        </p:nvSpPr>
        <p:spPr>
          <a:xfrm>
            <a:off x="4349900" y="534963"/>
            <a:ext cx="3093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>
                <a:solidFill>
                  <a:schemeClr val="dk1"/>
                </a:solidFill>
                <a:latin typeface="Dancing Script SemiBold"/>
                <a:ea typeface="Dancing Script SemiBold"/>
                <a:cs typeface="Dancing Script SemiBold"/>
                <a:sym typeface="Dancing Script SemiBold"/>
              </a:rPr>
              <a:t>한계점 및 추가 분석 방향</a:t>
            </a:r>
            <a:endParaRPr sz="2100">
              <a:solidFill>
                <a:schemeClr val="dk1"/>
              </a:solidFill>
              <a:latin typeface="Dancing Script SemiBold"/>
              <a:ea typeface="Dancing Script SemiBold"/>
              <a:cs typeface="Dancing Script SemiBold"/>
              <a:sym typeface="Dancing Script SemiBold"/>
            </a:endParaRPr>
          </a:p>
        </p:txBody>
      </p:sp>
      <p:pic>
        <p:nvPicPr>
          <p:cNvPr id="357" name="Google Shape;357;p53" title="futurestudy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568638"/>
            <a:ext cx="4045102" cy="269673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4"/>
          <p:cNvSpPr txBox="1"/>
          <p:nvPr/>
        </p:nvSpPr>
        <p:spPr>
          <a:xfrm>
            <a:off x="2936081" y="1884848"/>
            <a:ext cx="32718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5400">
                <a:solidFill>
                  <a:schemeClr val="dk1"/>
                </a:solidFill>
                <a:latin typeface="Dancing Script SemiBold"/>
                <a:ea typeface="Dancing Script SemiBold"/>
                <a:cs typeface="Dancing Script SemiBold"/>
                <a:sym typeface="Dancing Script SemiBold"/>
              </a:rPr>
              <a:t>Thanks !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PTMON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